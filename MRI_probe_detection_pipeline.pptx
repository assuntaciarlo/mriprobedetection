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58" r:id="rId5"/>
    <p:sldId id="259" r:id="rId6"/>
    <p:sldId id="263" r:id="rId7"/>
    <p:sldId id="264" r:id="rId8"/>
    <p:sldId id="265" r:id="rId9"/>
    <p:sldId id="266" r:id="rId10"/>
    <p:sldId id="261" r:id="rId11"/>
    <p:sldId id="26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1919"/>
    <a:srgbClr val="0C0859"/>
    <a:srgbClr val="000000"/>
    <a:srgbClr val="860000"/>
    <a:srgbClr val="CD7D23"/>
    <a:srgbClr val="4B8B61"/>
    <a:srgbClr val="364874"/>
    <a:srgbClr val="FAEEDA"/>
    <a:srgbClr val="EBEDF0"/>
    <a:srgbClr val="E1EBF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62" autoAdjust="0"/>
    <p:restoredTop sz="94660"/>
  </p:normalViewPr>
  <p:slideViewPr>
    <p:cSldViewPr snapToGrid="0" snapToObjects="1">
      <p:cViewPr varScale="1">
        <p:scale>
          <a:sx n="111" d="100"/>
          <a:sy n="111" d="100"/>
        </p:scale>
        <p:origin x="643"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44772" y="358301"/>
            <a:ext cx="8698920" cy="477054"/>
          </a:xfrm>
          <a:prstGeom prst="rect">
            <a:avLst/>
          </a:prstGeom>
          <a:noFill/>
        </p:spPr>
        <p:txBody>
          <a:bodyPr wrap="none">
            <a:spAutoFit/>
          </a:bodyPr>
          <a:lstStyle/>
          <a:p>
            <a:pPr algn="ctr"/>
            <a:r>
              <a:rPr sz="2500" b="1" dirty="0">
                <a:latin typeface="Aptos Display"/>
              </a:rPr>
              <a:t>Automatic Probe Detection, Registration and Labelling Pipeline</a:t>
            </a:r>
          </a:p>
        </p:txBody>
      </p:sp>
      <p:sp>
        <p:nvSpPr>
          <p:cNvPr id="3" name="Rounded Rectangle 2"/>
          <p:cNvSpPr/>
          <p:nvPr/>
        </p:nvSpPr>
        <p:spPr>
          <a:xfrm>
            <a:off x="483252" y="1171151"/>
            <a:ext cx="1440000" cy="540000"/>
          </a:xfrm>
          <a:prstGeom prst="roundRect">
            <a:avLst/>
          </a:prstGeom>
          <a:solidFill>
            <a:schemeClr val="bg1"/>
          </a:solidFill>
          <a:ln w="1905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2D2D2D"/>
                </a:solidFill>
                <a:latin typeface="Aptos"/>
              </a:rPr>
              <a:t>3D head model</a:t>
            </a:r>
          </a:p>
        </p:txBody>
      </p:sp>
      <p:sp>
        <p:nvSpPr>
          <p:cNvPr id="4" name="Rounded Rectangle 3"/>
          <p:cNvSpPr/>
          <p:nvPr/>
        </p:nvSpPr>
        <p:spPr>
          <a:xfrm>
            <a:off x="2083658" y="1171151"/>
            <a:ext cx="1440000" cy="540000"/>
          </a:xfrm>
          <a:prstGeom prst="roundRect">
            <a:avLst/>
          </a:prstGeom>
          <a:solidFill>
            <a:schemeClr val="bg1"/>
          </a:solidFill>
          <a:ln w="1905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2D2D2D"/>
                </a:solidFill>
                <a:latin typeface="Aptos"/>
              </a:rPr>
              <a:t>Probe mask</a:t>
            </a:r>
          </a:p>
        </p:txBody>
      </p:sp>
      <p:sp>
        <p:nvSpPr>
          <p:cNvPr id="5" name="Rounded Rectangle 4"/>
          <p:cNvSpPr/>
          <p:nvPr/>
        </p:nvSpPr>
        <p:spPr>
          <a:xfrm>
            <a:off x="3684064" y="1173798"/>
            <a:ext cx="1440000" cy="540000"/>
          </a:xfrm>
          <a:prstGeom prst="roundRect">
            <a:avLst/>
          </a:prstGeom>
          <a:solidFill>
            <a:schemeClr val="bg1"/>
          </a:solidFill>
          <a:ln w="1905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2D2D2D"/>
                </a:solidFill>
                <a:latin typeface="Aptos"/>
              </a:rPr>
              <a:t>Mean curvature
computation</a:t>
            </a:r>
          </a:p>
        </p:txBody>
      </p:sp>
      <p:sp>
        <p:nvSpPr>
          <p:cNvPr id="6" name="Rounded Rectangle 5"/>
          <p:cNvSpPr/>
          <p:nvPr/>
        </p:nvSpPr>
        <p:spPr>
          <a:xfrm>
            <a:off x="5284470" y="1173798"/>
            <a:ext cx="1440000" cy="540000"/>
          </a:xfrm>
          <a:prstGeom prst="roundRect">
            <a:avLst/>
          </a:prstGeom>
          <a:solidFill>
            <a:schemeClr val="bg1"/>
          </a:solidFill>
          <a:ln w="1905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2D2D2D"/>
                </a:solidFill>
                <a:latin typeface="Aptos"/>
              </a:rPr>
              <a:t>Curvature
thresholding</a:t>
            </a:r>
          </a:p>
        </p:txBody>
      </p:sp>
      <p:sp>
        <p:nvSpPr>
          <p:cNvPr id="7" name="Rounded Rectangle 6"/>
          <p:cNvSpPr/>
          <p:nvPr/>
        </p:nvSpPr>
        <p:spPr>
          <a:xfrm>
            <a:off x="6884876" y="1171151"/>
            <a:ext cx="1440000" cy="540000"/>
          </a:xfrm>
          <a:prstGeom prst="roundRect">
            <a:avLst/>
          </a:prstGeom>
          <a:solidFill>
            <a:schemeClr val="bg1"/>
          </a:solidFill>
          <a:ln w="1905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2D2D2D"/>
                </a:solidFill>
                <a:latin typeface="Aptos"/>
              </a:rPr>
              <a:t>Detected probe
points</a:t>
            </a:r>
          </a:p>
        </p:txBody>
      </p:sp>
      <p:cxnSp>
        <p:nvCxnSpPr>
          <p:cNvPr id="8" name="Connector 7"/>
          <p:cNvCxnSpPr>
            <a:cxnSpLocks/>
            <a:stCxn id="3" idx="3"/>
            <a:endCxn id="4" idx="1"/>
          </p:cNvCxnSpPr>
          <p:nvPr/>
        </p:nvCxnSpPr>
        <p:spPr>
          <a:xfrm>
            <a:off x="1923252" y="1441151"/>
            <a:ext cx="160406" cy="0"/>
          </a:xfrm>
          <a:prstGeom prst="line">
            <a:avLst/>
          </a:prstGeom>
          <a:ln w="254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a:cxnSpLocks/>
            <a:stCxn id="4" idx="3"/>
            <a:endCxn id="5" idx="1"/>
          </p:cNvCxnSpPr>
          <p:nvPr/>
        </p:nvCxnSpPr>
        <p:spPr>
          <a:xfrm>
            <a:off x="3523658" y="1441151"/>
            <a:ext cx="160406" cy="2647"/>
          </a:xfrm>
          <a:prstGeom prst="line">
            <a:avLst/>
          </a:prstGeom>
          <a:ln w="254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a:cxnSpLocks/>
            <a:stCxn id="5" idx="3"/>
            <a:endCxn id="6" idx="1"/>
          </p:cNvCxnSpPr>
          <p:nvPr/>
        </p:nvCxnSpPr>
        <p:spPr>
          <a:xfrm>
            <a:off x="5124064" y="1443798"/>
            <a:ext cx="160406" cy="0"/>
          </a:xfrm>
          <a:prstGeom prst="line">
            <a:avLst/>
          </a:prstGeom>
          <a:ln w="254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a:cxnSpLocks/>
            <a:stCxn id="6" idx="3"/>
            <a:endCxn id="7" idx="1"/>
          </p:cNvCxnSpPr>
          <p:nvPr/>
        </p:nvCxnSpPr>
        <p:spPr>
          <a:xfrm flipV="1">
            <a:off x="6724470" y="1441151"/>
            <a:ext cx="160406" cy="2647"/>
          </a:xfrm>
          <a:prstGeom prst="line">
            <a:avLst/>
          </a:prstGeom>
          <a:ln w="254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485282" y="1173798"/>
            <a:ext cx="2340000" cy="540000"/>
          </a:xfrm>
          <a:prstGeom prst="roundRect">
            <a:avLst/>
          </a:prstGeom>
          <a:solidFill>
            <a:schemeClr val="bg1"/>
          </a:solidFill>
          <a:ln w="1905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200" b="1" dirty="0">
                <a:solidFill>
                  <a:srgbClr val="2D2D2D"/>
                </a:solidFill>
                <a:latin typeface="Aptos"/>
              </a:rPr>
              <a:t>ICP → MNI template</a:t>
            </a:r>
          </a:p>
          <a:p>
            <a:pPr algn="ctr"/>
            <a:r>
              <a:rPr lang="it-IT" sz="1200" b="1" dirty="0">
                <a:solidFill>
                  <a:srgbClr val="2D2D2D"/>
                </a:solidFill>
                <a:latin typeface="Aptos"/>
              </a:rPr>
              <a:t>Assign Labels</a:t>
            </a:r>
            <a:endParaRPr sz="1200" b="1" dirty="0">
              <a:solidFill>
                <a:srgbClr val="2D2D2D"/>
              </a:solidFill>
              <a:latin typeface="Aptos"/>
            </a:endParaRPr>
          </a:p>
        </p:txBody>
      </p:sp>
      <p:cxnSp>
        <p:nvCxnSpPr>
          <p:cNvPr id="13" name="Connector 12"/>
          <p:cNvCxnSpPr>
            <a:cxnSpLocks/>
            <a:stCxn id="7" idx="3"/>
            <a:endCxn id="12" idx="1"/>
          </p:cNvCxnSpPr>
          <p:nvPr/>
        </p:nvCxnSpPr>
        <p:spPr>
          <a:xfrm>
            <a:off x="8324876" y="1441151"/>
            <a:ext cx="160406" cy="2647"/>
          </a:xfrm>
          <a:prstGeom prst="line">
            <a:avLst/>
          </a:prstGeom>
          <a:ln w="254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5817335" y="2170047"/>
            <a:ext cx="1600200" cy="900000"/>
          </a:xfrm>
          <a:prstGeom prst="diamond">
            <a:avLst/>
          </a:prstGeom>
          <a:solidFill>
            <a:schemeClr val="bg1"/>
          </a:solidFill>
          <a:ln w="2159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b="1" dirty="0">
                <a:solidFill>
                  <a:srgbClr val="2D2D2D"/>
                </a:solidFill>
                <a:latin typeface="Aptos"/>
              </a:rPr>
              <a:t>Labels correct?</a:t>
            </a:r>
            <a:endParaRPr sz="1200" b="1" dirty="0">
              <a:solidFill>
                <a:srgbClr val="2D2D2D"/>
              </a:solidFill>
              <a:latin typeface="Aptos"/>
            </a:endParaRPr>
          </a:p>
        </p:txBody>
      </p:sp>
      <p:cxnSp>
        <p:nvCxnSpPr>
          <p:cNvPr id="17" name="Connector 16"/>
          <p:cNvCxnSpPr>
            <a:cxnSpLocks/>
            <a:stCxn id="14" idx="3"/>
            <a:endCxn id="30" idx="1"/>
          </p:cNvCxnSpPr>
          <p:nvPr/>
        </p:nvCxnSpPr>
        <p:spPr>
          <a:xfrm>
            <a:off x="7417535" y="2620047"/>
            <a:ext cx="540083" cy="9413"/>
          </a:xfrm>
          <a:prstGeom prst="line">
            <a:avLst/>
          </a:prstGeom>
          <a:ln w="254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425809" y="2347974"/>
            <a:ext cx="453970" cy="276999"/>
          </a:xfrm>
          <a:prstGeom prst="rect">
            <a:avLst/>
          </a:prstGeom>
          <a:noFill/>
          <a:ln>
            <a:noFill/>
          </a:ln>
        </p:spPr>
        <p:txBody>
          <a:bodyPr wrap="none">
            <a:spAutoFit/>
          </a:bodyPr>
          <a:lstStyle/>
          <a:p>
            <a:pPr algn="ctr"/>
            <a:r>
              <a:rPr sz="1200" b="1" dirty="0">
                <a:latin typeface="Aptos"/>
              </a:rPr>
              <a:t>YES</a:t>
            </a:r>
          </a:p>
        </p:txBody>
      </p:sp>
      <p:sp>
        <p:nvSpPr>
          <p:cNvPr id="19" name="Rounded Rectangle 18"/>
          <p:cNvSpPr/>
          <p:nvPr/>
        </p:nvSpPr>
        <p:spPr>
          <a:xfrm>
            <a:off x="3756009" y="2354973"/>
            <a:ext cx="1440000" cy="540000"/>
          </a:xfrm>
          <a:prstGeom prst="roundRect">
            <a:avLst/>
          </a:prstGeom>
          <a:pattFill prst="ltUpDiag">
            <a:fgClr>
              <a:schemeClr val="bg1">
                <a:lumMod val="65000"/>
              </a:schemeClr>
            </a:fgClr>
            <a:bgClr>
              <a:schemeClr val="bg1"/>
            </a:bgClr>
          </a:pattFill>
          <a:ln w="1905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200" b="1" dirty="0">
                <a:solidFill>
                  <a:srgbClr val="2D2D2D"/>
                </a:solidFill>
                <a:latin typeface="Aptos"/>
              </a:rPr>
              <a:t>D</a:t>
            </a:r>
            <a:r>
              <a:rPr sz="1200" b="1" dirty="0" err="1">
                <a:solidFill>
                  <a:srgbClr val="2D2D2D"/>
                </a:solidFill>
                <a:latin typeface="Aptos"/>
              </a:rPr>
              <a:t>elete</a:t>
            </a:r>
            <a:r>
              <a:rPr sz="1200" b="1" dirty="0">
                <a:solidFill>
                  <a:srgbClr val="2D2D2D"/>
                </a:solidFill>
                <a:latin typeface="Aptos"/>
              </a:rPr>
              <a:t> false detections</a:t>
            </a:r>
          </a:p>
        </p:txBody>
      </p:sp>
      <p:cxnSp>
        <p:nvCxnSpPr>
          <p:cNvPr id="20" name="Connector 19"/>
          <p:cNvCxnSpPr>
            <a:cxnSpLocks/>
            <a:stCxn id="14" idx="1"/>
            <a:endCxn id="19" idx="3"/>
          </p:cNvCxnSpPr>
          <p:nvPr/>
        </p:nvCxnSpPr>
        <p:spPr>
          <a:xfrm flipH="1">
            <a:off x="5196009" y="2620047"/>
            <a:ext cx="621326" cy="4926"/>
          </a:xfrm>
          <a:prstGeom prst="line">
            <a:avLst/>
          </a:prstGeom>
          <a:ln w="254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188080" y="2352460"/>
            <a:ext cx="637184" cy="276999"/>
          </a:xfrm>
          <a:prstGeom prst="rect">
            <a:avLst/>
          </a:prstGeom>
          <a:noFill/>
        </p:spPr>
        <p:txBody>
          <a:bodyPr wrap="square">
            <a:spAutoFit/>
          </a:bodyPr>
          <a:lstStyle/>
          <a:p>
            <a:pPr algn="ctr"/>
            <a:r>
              <a:rPr sz="1200" b="1" dirty="0">
                <a:latin typeface="Aptos"/>
              </a:rPr>
              <a:t>NO</a:t>
            </a:r>
          </a:p>
        </p:txBody>
      </p:sp>
      <p:sp>
        <p:nvSpPr>
          <p:cNvPr id="24" name="Rounded Rectangle 23"/>
          <p:cNvSpPr/>
          <p:nvPr/>
        </p:nvSpPr>
        <p:spPr>
          <a:xfrm>
            <a:off x="1535042" y="2359459"/>
            <a:ext cx="1440000" cy="540000"/>
          </a:xfrm>
          <a:prstGeom prst="roundRect">
            <a:avLst/>
          </a:prstGeom>
          <a:solidFill>
            <a:schemeClr val="bg1"/>
          </a:solidFill>
          <a:ln w="1905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b="1" dirty="0">
                <a:solidFill>
                  <a:srgbClr val="2D2D2D"/>
                </a:solidFill>
                <a:latin typeface="Aptos"/>
              </a:rPr>
              <a:t>Retry ICP → MNI</a:t>
            </a:r>
          </a:p>
          <a:p>
            <a:pPr algn="ctr"/>
            <a:r>
              <a:rPr lang="en-GB" sz="1200" b="1" dirty="0">
                <a:solidFill>
                  <a:srgbClr val="2D2D2D"/>
                </a:solidFill>
                <a:latin typeface="Aptos"/>
              </a:rPr>
              <a:t>Assign Label</a:t>
            </a:r>
            <a:endParaRPr sz="1200" b="1" dirty="0">
              <a:solidFill>
                <a:srgbClr val="2D2D2D"/>
              </a:solidFill>
              <a:latin typeface="Aptos"/>
            </a:endParaRPr>
          </a:p>
        </p:txBody>
      </p:sp>
      <p:cxnSp>
        <p:nvCxnSpPr>
          <p:cNvPr id="25" name="Connector 24"/>
          <p:cNvCxnSpPr>
            <a:cxnSpLocks/>
            <a:stCxn id="19" idx="1"/>
            <a:endCxn id="24" idx="3"/>
          </p:cNvCxnSpPr>
          <p:nvPr/>
        </p:nvCxnSpPr>
        <p:spPr>
          <a:xfrm flipH="1">
            <a:off x="2975042" y="2624973"/>
            <a:ext cx="780967" cy="4486"/>
          </a:xfrm>
          <a:prstGeom prst="line">
            <a:avLst/>
          </a:prstGeom>
          <a:ln w="2286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957618" y="2359460"/>
            <a:ext cx="1440000" cy="540000"/>
          </a:xfrm>
          <a:prstGeom prst="roundRect">
            <a:avLst/>
          </a:prstGeom>
          <a:solidFill>
            <a:schemeClr val="bg1"/>
          </a:solidFill>
          <a:ln w="1905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2D2D2D"/>
                </a:solidFill>
                <a:latin typeface="Aptos"/>
              </a:rPr>
              <a:t>Recover missing
probes</a:t>
            </a:r>
          </a:p>
        </p:txBody>
      </p:sp>
      <p:sp>
        <p:nvSpPr>
          <p:cNvPr id="33" name="Rounded Rectangle 32"/>
          <p:cNvSpPr/>
          <p:nvPr/>
        </p:nvSpPr>
        <p:spPr>
          <a:xfrm>
            <a:off x="2403960" y="3584615"/>
            <a:ext cx="1440000" cy="540000"/>
          </a:xfrm>
          <a:prstGeom prst="roundRect">
            <a:avLst/>
          </a:prstGeom>
          <a:pattFill prst="ltUpDiag">
            <a:fgClr>
              <a:schemeClr val="bg1">
                <a:lumMod val="65000"/>
              </a:schemeClr>
            </a:fgClr>
            <a:bgClr>
              <a:schemeClr val="bg1"/>
            </a:bgClr>
          </a:pattFill>
          <a:ln w="1905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200" b="1" dirty="0">
                <a:solidFill>
                  <a:srgbClr val="2D2D2D"/>
                </a:solidFill>
                <a:latin typeface="Aptos"/>
              </a:rPr>
              <a:t>Manual Labelling</a:t>
            </a:r>
            <a:endParaRPr sz="1200" b="1" dirty="0">
              <a:solidFill>
                <a:srgbClr val="2D2D2D"/>
              </a:solidFill>
              <a:latin typeface="Aptos"/>
            </a:endParaRPr>
          </a:p>
        </p:txBody>
      </p:sp>
      <p:sp>
        <p:nvSpPr>
          <p:cNvPr id="38" name="Rounded Rectangle 37"/>
          <p:cNvSpPr/>
          <p:nvPr/>
        </p:nvSpPr>
        <p:spPr>
          <a:xfrm>
            <a:off x="9116693" y="3570605"/>
            <a:ext cx="1440000" cy="540000"/>
          </a:xfrm>
          <a:prstGeom prst="roundRect">
            <a:avLst/>
          </a:prstGeom>
          <a:solidFill>
            <a:schemeClr val="bg1"/>
          </a:solidFill>
          <a:ln w="1651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900" b="1" dirty="0" err="1">
                <a:solidFill>
                  <a:schemeClr val="tx1"/>
                </a:solidFill>
              </a:rPr>
              <a:t>detected_recovered_probes_noSS_nXX_iterXXX.probej</a:t>
            </a:r>
            <a:endParaRPr lang="en-NL" sz="900" b="1" dirty="0">
              <a:solidFill>
                <a:schemeClr val="tx1"/>
              </a:solidFill>
            </a:endParaRPr>
          </a:p>
        </p:txBody>
      </p:sp>
      <p:cxnSp>
        <p:nvCxnSpPr>
          <p:cNvPr id="72" name="Connector: Elbow 71">
            <a:extLst>
              <a:ext uri="{FF2B5EF4-FFF2-40B4-BE49-F238E27FC236}">
                <a16:creationId xmlns:a16="http://schemas.microsoft.com/office/drawing/2014/main" id="{31EB171A-F0E1-DBF2-E784-74B0017BA0C8}"/>
              </a:ext>
            </a:extLst>
          </p:cNvPr>
          <p:cNvCxnSpPr>
            <a:cxnSpLocks/>
            <a:stCxn id="108" idx="0"/>
            <a:endCxn id="24" idx="2"/>
          </p:cNvCxnSpPr>
          <p:nvPr/>
        </p:nvCxnSpPr>
        <p:spPr>
          <a:xfrm rot="16200000" flipV="1">
            <a:off x="3629003" y="1525498"/>
            <a:ext cx="491146" cy="3239067"/>
          </a:xfrm>
          <a:prstGeom prst="bentConnector3">
            <a:avLst>
              <a:gd name="adj1" fmla="val 50000"/>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08" name="Diamond 107">
            <a:extLst>
              <a:ext uri="{FF2B5EF4-FFF2-40B4-BE49-F238E27FC236}">
                <a16:creationId xmlns:a16="http://schemas.microsoft.com/office/drawing/2014/main" id="{6B11024C-992F-EB16-6F5F-61C3C0C30742}"/>
              </a:ext>
            </a:extLst>
          </p:cNvPr>
          <p:cNvSpPr/>
          <p:nvPr/>
        </p:nvSpPr>
        <p:spPr>
          <a:xfrm>
            <a:off x="4694009" y="3390605"/>
            <a:ext cx="1600200" cy="900000"/>
          </a:xfrm>
          <a:prstGeom prst="diamond">
            <a:avLst/>
          </a:prstGeom>
          <a:solidFill>
            <a:schemeClr val="bg1"/>
          </a:solidFill>
          <a:ln w="2159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b="1" dirty="0">
                <a:solidFill>
                  <a:srgbClr val="2D2D2D"/>
                </a:solidFill>
                <a:latin typeface="Aptos"/>
              </a:rPr>
              <a:t>Labels correct?</a:t>
            </a:r>
            <a:endParaRPr sz="1200" b="1" dirty="0">
              <a:solidFill>
                <a:srgbClr val="2D2D2D"/>
              </a:solidFill>
              <a:latin typeface="Aptos"/>
            </a:endParaRPr>
          </a:p>
        </p:txBody>
      </p:sp>
      <p:cxnSp>
        <p:nvCxnSpPr>
          <p:cNvPr id="113" name="Connector 19">
            <a:extLst>
              <a:ext uri="{FF2B5EF4-FFF2-40B4-BE49-F238E27FC236}">
                <a16:creationId xmlns:a16="http://schemas.microsoft.com/office/drawing/2014/main" id="{D85AC8CB-82C0-F690-25E3-469AC5A6464F}"/>
              </a:ext>
            </a:extLst>
          </p:cNvPr>
          <p:cNvCxnSpPr>
            <a:cxnSpLocks/>
            <a:stCxn id="108" idx="1"/>
            <a:endCxn id="33" idx="3"/>
          </p:cNvCxnSpPr>
          <p:nvPr/>
        </p:nvCxnSpPr>
        <p:spPr>
          <a:xfrm flipH="1">
            <a:off x="3843960" y="3840605"/>
            <a:ext cx="850049" cy="14010"/>
          </a:xfrm>
          <a:prstGeom prst="line">
            <a:avLst/>
          </a:prstGeom>
          <a:ln w="254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8" name="Connector: Elbow 117">
            <a:extLst>
              <a:ext uri="{FF2B5EF4-FFF2-40B4-BE49-F238E27FC236}">
                <a16:creationId xmlns:a16="http://schemas.microsoft.com/office/drawing/2014/main" id="{3D77865E-421E-8169-165E-6F17FB3B062D}"/>
              </a:ext>
            </a:extLst>
          </p:cNvPr>
          <p:cNvCxnSpPr>
            <a:stCxn id="108" idx="3"/>
            <a:endCxn id="30" idx="2"/>
          </p:cNvCxnSpPr>
          <p:nvPr/>
        </p:nvCxnSpPr>
        <p:spPr>
          <a:xfrm flipV="1">
            <a:off x="6294209" y="2899460"/>
            <a:ext cx="2383409" cy="941145"/>
          </a:xfrm>
          <a:prstGeom prst="bentConnector2">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083B751A-972C-6669-F2B0-4C1366681F62}"/>
              </a:ext>
            </a:extLst>
          </p:cNvPr>
          <p:cNvSpPr txBox="1"/>
          <p:nvPr/>
        </p:nvSpPr>
        <p:spPr>
          <a:xfrm>
            <a:off x="6368811" y="3594287"/>
            <a:ext cx="453970" cy="276999"/>
          </a:xfrm>
          <a:prstGeom prst="rect">
            <a:avLst/>
          </a:prstGeom>
          <a:noFill/>
          <a:ln>
            <a:noFill/>
          </a:ln>
        </p:spPr>
        <p:txBody>
          <a:bodyPr wrap="none">
            <a:spAutoFit/>
          </a:bodyPr>
          <a:lstStyle/>
          <a:p>
            <a:pPr algn="ctr"/>
            <a:r>
              <a:rPr sz="1200" b="1" dirty="0">
                <a:latin typeface="Aptos"/>
              </a:rPr>
              <a:t>YES</a:t>
            </a:r>
          </a:p>
        </p:txBody>
      </p:sp>
      <p:sp>
        <p:nvSpPr>
          <p:cNvPr id="124" name="TextBox 123">
            <a:extLst>
              <a:ext uri="{FF2B5EF4-FFF2-40B4-BE49-F238E27FC236}">
                <a16:creationId xmlns:a16="http://schemas.microsoft.com/office/drawing/2014/main" id="{858B63DC-DF80-517A-26FA-9D76927143A0}"/>
              </a:ext>
            </a:extLst>
          </p:cNvPr>
          <p:cNvSpPr txBox="1"/>
          <p:nvPr/>
        </p:nvSpPr>
        <p:spPr>
          <a:xfrm>
            <a:off x="4103608" y="3601381"/>
            <a:ext cx="637184" cy="276999"/>
          </a:xfrm>
          <a:prstGeom prst="rect">
            <a:avLst/>
          </a:prstGeom>
          <a:noFill/>
          <a:ln>
            <a:noFill/>
          </a:ln>
        </p:spPr>
        <p:txBody>
          <a:bodyPr wrap="square">
            <a:spAutoFit/>
          </a:bodyPr>
          <a:lstStyle/>
          <a:p>
            <a:pPr algn="ctr"/>
            <a:r>
              <a:rPr sz="1200" b="1" dirty="0">
                <a:latin typeface="Aptos"/>
              </a:rPr>
              <a:t>NO</a:t>
            </a:r>
          </a:p>
        </p:txBody>
      </p:sp>
      <p:sp>
        <p:nvSpPr>
          <p:cNvPr id="126" name="Rounded Rectangle 23">
            <a:extLst>
              <a:ext uri="{FF2B5EF4-FFF2-40B4-BE49-F238E27FC236}">
                <a16:creationId xmlns:a16="http://schemas.microsoft.com/office/drawing/2014/main" id="{8593C132-E471-97C3-0739-974993ED482C}"/>
              </a:ext>
            </a:extLst>
          </p:cNvPr>
          <p:cNvSpPr/>
          <p:nvPr/>
        </p:nvSpPr>
        <p:spPr>
          <a:xfrm>
            <a:off x="2403960" y="4843309"/>
            <a:ext cx="1440000" cy="540000"/>
          </a:xfrm>
          <a:prstGeom prst="roundRect">
            <a:avLst/>
          </a:prstGeom>
          <a:solidFill>
            <a:schemeClr val="bg1"/>
          </a:solidFill>
          <a:ln w="1905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200" b="1" dirty="0">
                <a:solidFill>
                  <a:srgbClr val="2D2D2D"/>
                </a:solidFill>
                <a:latin typeface="Aptos"/>
              </a:rPr>
              <a:t>Matched ICP</a:t>
            </a:r>
            <a:endParaRPr sz="1200" b="1" dirty="0">
              <a:solidFill>
                <a:srgbClr val="2D2D2D"/>
              </a:solidFill>
              <a:latin typeface="Aptos"/>
            </a:endParaRPr>
          </a:p>
        </p:txBody>
      </p:sp>
      <p:sp>
        <p:nvSpPr>
          <p:cNvPr id="128" name="Rounded Rectangle 23">
            <a:extLst>
              <a:ext uri="{FF2B5EF4-FFF2-40B4-BE49-F238E27FC236}">
                <a16:creationId xmlns:a16="http://schemas.microsoft.com/office/drawing/2014/main" id="{050FCD24-89A2-9218-058B-CF37DC5B06CD}"/>
              </a:ext>
            </a:extLst>
          </p:cNvPr>
          <p:cNvSpPr/>
          <p:nvPr/>
        </p:nvSpPr>
        <p:spPr>
          <a:xfrm>
            <a:off x="4964009" y="4829036"/>
            <a:ext cx="2340000" cy="540000"/>
          </a:xfrm>
          <a:prstGeom prst="roundRect">
            <a:avLst/>
          </a:prstGeom>
          <a:solidFill>
            <a:schemeClr val="bg1"/>
          </a:solidFill>
          <a:ln w="1905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200" b="1" dirty="0">
                <a:solidFill>
                  <a:srgbClr val="2D2D2D"/>
                </a:solidFill>
                <a:latin typeface="Aptos"/>
              </a:rPr>
              <a:t>Matched template</a:t>
            </a:r>
          </a:p>
          <a:p>
            <a:pPr algn="ctr"/>
            <a:r>
              <a:rPr lang="it-IT" sz="1200" b="1" dirty="0">
                <a:solidFill>
                  <a:srgbClr val="2D2D2D"/>
                </a:solidFill>
                <a:latin typeface="Aptos"/>
              </a:rPr>
              <a:t>Assign Labels</a:t>
            </a:r>
            <a:endParaRPr sz="1200" b="1" dirty="0">
              <a:solidFill>
                <a:srgbClr val="2D2D2D"/>
              </a:solidFill>
              <a:latin typeface="Aptos"/>
            </a:endParaRPr>
          </a:p>
        </p:txBody>
      </p:sp>
      <p:cxnSp>
        <p:nvCxnSpPr>
          <p:cNvPr id="129" name="Connector 24">
            <a:extLst>
              <a:ext uri="{FF2B5EF4-FFF2-40B4-BE49-F238E27FC236}">
                <a16:creationId xmlns:a16="http://schemas.microsoft.com/office/drawing/2014/main" id="{480FE3D8-6122-6436-9555-0517F19561DA}"/>
              </a:ext>
            </a:extLst>
          </p:cNvPr>
          <p:cNvCxnSpPr>
            <a:cxnSpLocks/>
            <a:stCxn id="126" idx="0"/>
            <a:endCxn id="33" idx="2"/>
          </p:cNvCxnSpPr>
          <p:nvPr/>
        </p:nvCxnSpPr>
        <p:spPr>
          <a:xfrm flipV="1">
            <a:off x="3123960" y="4124615"/>
            <a:ext cx="0" cy="718694"/>
          </a:xfrm>
          <a:prstGeom prst="line">
            <a:avLst/>
          </a:prstGeom>
          <a:ln w="2286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2" name="Connector 24">
            <a:extLst>
              <a:ext uri="{FF2B5EF4-FFF2-40B4-BE49-F238E27FC236}">
                <a16:creationId xmlns:a16="http://schemas.microsoft.com/office/drawing/2014/main" id="{EF70CA57-8C1E-0BC0-D9C9-00FBBAE2CF3B}"/>
              </a:ext>
            </a:extLst>
          </p:cNvPr>
          <p:cNvCxnSpPr>
            <a:cxnSpLocks/>
            <a:stCxn id="128" idx="1"/>
            <a:endCxn id="126" idx="3"/>
          </p:cNvCxnSpPr>
          <p:nvPr/>
        </p:nvCxnSpPr>
        <p:spPr>
          <a:xfrm flipH="1">
            <a:off x="3843960" y="5099036"/>
            <a:ext cx="1120049" cy="14273"/>
          </a:xfrm>
          <a:prstGeom prst="line">
            <a:avLst/>
          </a:prstGeom>
          <a:ln w="2286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6" name="Connector: Elbow 135">
            <a:extLst>
              <a:ext uri="{FF2B5EF4-FFF2-40B4-BE49-F238E27FC236}">
                <a16:creationId xmlns:a16="http://schemas.microsoft.com/office/drawing/2014/main" id="{B3E57563-4792-4D98-7E71-052EF63FCFF1}"/>
              </a:ext>
            </a:extLst>
          </p:cNvPr>
          <p:cNvCxnSpPr>
            <a:cxnSpLocks/>
            <a:stCxn id="128" idx="3"/>
            <a:endCxn id="30" idx="2"/>
          </p:cNvCxnSpPr>
          <p:nvPr/>
        </p:nvCxnSpPr>
        <p:spPr>
          <a:xfrm flipV="1">
            <a:off x="7304009" y="2899460"/>
            <a:ext cx="1373609" cy="2199576"/>
          </a:xfrm>
          <a:prstGeom prst="bentConnector2">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9" name="Connector: Elbow 138">
            <a:extLst>
              <a:ext uri="{FF2B5EF4-FFF2-40B4-BE49-F238E27FC236}">
                <a16:creationId xmlns:a16="http://schemas.microsoft.com/office/drawing/2014/main" id="{F229F50A-493A-67A7-7AC7-BAAACC4A4AF9}"/>
              </a:ext>
            </a:extLst>
          </p:cNvPr>
          <p:cNvCxnSpPr>
            <a:cxnSpLocks/>
            <a:stCxn id="38" idx="0"/>
            <a:endCxn id="30" idx="3"/>
          </p:cNvCxnSpPr>
          <p:nvPr/>
        </p:nvCxnSpPr>
        <p:spPr>
          <a:xfrm rot="16200000" flipV="1">
            <a:off x="9146584" y="2880495"/>
            <a:ext cx="941145" cy="439075"/>
          </a:xfrm>
          <a:prstGeom prst="bentConnector2">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42" name="TextBox 141">
            <a:extLst>
              <a:ext uri="{FF2B5EF4-FFF2-40B4-BE49-F238E27FC236}">
                <a16:creationId xmlns:a16="http://schemas.microsoft.com/office/drawing/2014/main" id="{FAAA7D2B-3BA8-09F8-DFA2-78D347C6A25C}"/>
              </a:ext>
            </a:extLst>
          </p:cNvPr>
          <p:cNvSpPr txBox="1"/>
          <p:nvPr/>
        </p:nvSpPr>
        <p:spPr>
          <a:xfrm>
            <a:off x="483252" y="5844279"/>
            <a:ext cx="9087844" cy="830997"/>
          </a:xfrm>
          <a:prstGeom prst="rect">
            <a:avLst/>
          </a:prstGeom>
          <a:noFill/>
        </p:spPr>
        <p:txBody>
          <a:bodyPr wrap="square" rtlCol="0">
            <a:spAutoFit/>
          </a:bodyPr>
          <a:lstStyle/>
          <a:p>
            <a:r>
              <a:rPr lang="en-GB" sz="1200" dirty="0"/>
              <a:t> Primary route: detected points → ICP*-to-MNI assign labels  → recover missing probes. </a:t>
            </a:r>
          </a:p>
          <a:p>
            <a:r>
              <a:rPr lang="en-GB" sz="1200" dirty="0"/>
              <a:t> If labels are wrong: delete false detections and retry.</a:t>
            </a:r>
          </a:p>
          <a:p>
            <a:r>
              <a:rPr lang="en-GB" sz="1200" dirty="0"/>
              <a:t> If still wrong: manual labelling + matched ICP* → assign labels from the matched template → recover missing probes.</a:t>
            </a:r>
          </a:p>
          <a:p>
            <a:r>
              <a:rPr lang="en-GB" sz="1200" dirty="0"/>
              <a:t> [*ICP: Iterative Closest Point]</a:t>
            </a:r>
            <a:endParaRPr lang="en-NL" sz="1200" dirty="0"/>
          </a:p>
        </p:txBody>
      </p:sp>
      <p:cxnSp>
        <p:nvCxnSpPr>
          <p:cNvPr id="146" name="Connector: Elbow 145">
            <a:extLst>
              <a:ext uri="{FF2B5EF4-FFF2-40B4-BE49-F238E27FC236}">
                <a16:creationId xmlns:a16="http://schemas.microsoft.com/office/drawing/2014/main" id="{170A9A98-93A0-8C0F-D8E4-54067978E14B}"/>
              </a:ext>
            </a:extLst>
          </p:cNvPr>
          <p:cNvCxnSpPr>
            <a:cxnSpLocks/>
            <a:stCxn id="12" idx="2"/>
            <a:endCxn id="14" idx="0"/>
          </p:cNvCxnSpPr>
          <p:nvPr/>
        </p:nvCxnSpPr>
        <p:spPr>
          <a:xfrm rot="5400000">
            <a:off x="7908235" y="422999"/>
            <a:ext cx="456249" cy="3037847"/>
          </a:xfrm>
          <a:prstGeom prst="bentConnector3">
            <a:avLst>
              <a:gd name="adj1" fmla="val 50000"/>
            </a:avLst>
          </a:prstGeom>
          <a:ln>
            <a:solidFill>
              <a:schemeClr val="bg1">
                <a:lumMod val="50000"/>
              </a:schemeClr>
            </a:solidFill>
          </a:ln>
        </p:spPr>
        <p:style>
          <a:lnRef idx="2">
            <a:schemeClr val="dk1"/>
          </a:lnRef>
          <a:fillRef idx="0">
            <a:schemeClr val="dk1"/>
          </a:fillRef>
          <a:effectRef idx="1">
            <a:schemeClr val="dk1"/>
          </a:effectRef>
          <a:fontRef idx="minor">
            <a:schemeClr val="tx1"/>
          </a:fontRef>
        </p:style>
      </p:cxnSp>
      <p:sp>
        <p:nvSpPr>
          <p:cNvPr id="151" name="L-Shape 150">
            <a:extLst>
              <a:ext uri="{FF2B5EF4-FFF2-40B4-BE49-F238E27FC236}">
                <a16:creationId xmlns:a16="http://schemas.microsoft.com/office/drawing/2014/main" id="{772B907C-6846-8B90-8B56-CCFB6CF3AA97}"/>
              </a:ext>
            </a:extLst>
          </p:cNvPr>
          <p:cNvSpPr/>
          <p:nvPr/>
        </p:nvSpPr>
        <p:spPr>
          <a:xfrm>
            <a:off x="2260691" y="3416856"/>
            <a:ext cx="5189198" cy="2085692"/>
          </a:xfrm>
          <a:prstGeom prst="corner">
            <a:avLst>
              <a:gd name="adj1" fmla="val 38142"/>
              <a:gd name="adj2" fmla="val 83459"/>
            </a:avLst>
          </a:prstGeom>
          <a:noFill/>
          <a:ln w="19050">
            <a:solidFill>
              <a:schemeClr val="bg1">
                <a:lumMod val="50000"/>
              </a:schemeClr>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solidFill>
                <a:schemeClr val="tx1"/>
              </a:solidFill>
            </a:endParaRPr>
          </a:p>
        </p:txBody>
      </p:sp>
      <p:sp>
        <p:nvSpPr>
          <p:cNvPr id="150" name="TextBox 149">
            <a:extLst>
              <a:ext uri="{FF2B5EF4-FFF2-40B4-BE49-F238E27FC236}">
                <a16:creationId xmlns:a16="http://schemas.microsoft.com/office/drawing/2014/main" id="{78074528-50FC-66BE-9144-C530DDEE7236}"/>
              </a:ext>
            </a:extLst>
          </p:cNvPr>
          <p:cNvSpPr txBox="1"/>
          <p:nvPr/>
        </p:nvSpPr>
        <p:spPr>
          <a:xfrm>
            <a:off x="2650107" y="3273683"/>
            <a:ext cx="974718" cy="276999"/>
          </a:xfrm>
          <a:prstGeom prst="rect">
            <a:avLst/>
          </a:prstGeom>
          <a:solidFill>
            <a:schemeClr val="bg1"/>
          </a:solidFill>
          <a:ln>
            <a:noFill/>
          </a:ln>
        </p:spPr>
        <p:txBody>
          <a:bodyPr wrap="square">
            <a:spAutoFit/>
          </a:bodyPr>
          <a:lstStyle/>
          <a:p>
            <a:pPr algn="ctr"/>
            <a:r>
              <a:rPr lang="it-IT" sz="1200" b="1" dirty="0">
                <a:latin typeface="Aptos"/>
              </a:rPr>
              <a:t>FALLBACK</a:t>
            </a:r>
            <a:endParaRPr sz="1200" b="1" dirty="0">
              <a:latin typeface="Aptos"/>
            </a:endParaRPr>
          </a:p>
        </p:txBody>
      </p:sp>
      <p:sp>
        <p:nvSpPr>
          <p:cNvPr id="93" name="Rounded Rectangle 37">
            <a:extLst>
              <a:ext uri="{FF2B5EF4-FFF2-40B4-BE49-F238E27FC236}">
                <a16:creationId xmlns:a16="http://schemas.microsoft.com/office/drawing/2014/main" id="{4A168407-33F8-D604-16DB-7EE820AF0BB2}"/>
              </a:ext>
            </a:extLst>
          </p:cNvPr>
          <p:cNvSpPr/>
          <p:nvPr/>
        </p:nvSpPr>
        <p:spPr>
          <a:xfrm>
            <a:off x="10272372" y="2359459"/>
            <a:ext cx="1440000" cy="540000"/>
          </a:xfrm>
          <a:prstGeom prst="roundRect">
            <a:avLst/>
          </a:prstGeom>
          <a:solidFill>
            <a:schemeClr val="bg1"/>
          </a:solidFill>
          <a:ln w="16510">
            <a:solidFill>
              <a:srgbClr val="86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900" b="1" dirty="0">
                <a:solidFill>
                  <a:schemeClr val="tx1"/>
                </a:solidFill>
              </a:rPr>
              <a:t>icp2_transformed_MNI_probes_FCP.probej</a:t>
            </a:r>
            <a:endParaRPr lang="en-NL" sz="900" b="1" dirty="0">
              <a:solidFill>
                <a:schemeClr val="tx1"/>
              </a:solidFill>
            </a:endParaRPr>
          </a:p>
        </p:txBody>
      </p:sp>
      <p:cxnSp>
        <p:nvCxnSpPr>
          <p:cNvPr id="94" name="Connector: Elbow 93">
            <a:extLst>
              <a:ext uri="{FF2B5EF4-FFF2-40B4-BE49-F238E27FC236}">
                <a16:creationId xmlns:a16="http://schemas.microsoft.com/office/drawing/2014/main" id="{CCD02FD5-4C27-5E9C-D147-ACE1285B05E3}"/>
              </a:ext>
            </a:extLst>
          </p:cNvPr>
          <p:cNvCxnSpPr>
            <a:cxnSpLocks/>
            <a:stCxn id="93" idx="0"/>
            <a:endCxn id="12" idx="3"/>
          </p:cNvCxnSpPr>
          <p:nvPr/>
        </p:nvCxnSpPr>
        <p:spPr>
          <a:xfrm rot="16200000" flipV="1">
            <a:off x="10450997" y="1818084"/>
            <a:ext cx="915661" cy="167090"/>
          </a:xfrm>
          <a:prstGeom prst="bentConnector2">
            <a:avLst/>
          </a:prstGeom>
          <a:ln>
            <a:solidFill>
              <a:srgbClr val="860000"/>
            </a:solidFill>
          </a:ln>
        </p:spPr>
        <p:style>
          <a:lnRef idx="2">
            <a:schemeClr val="accent1"/>
          </a:lnRef>
          <a:fillRef idx="0">
            <a:schemeClr val="accent1"/>
          </a:fillRef>
          <a:effectRef idx="1">
            <a:schemeClr val="accent1"/>
          </a:effectRef>
          <a:fontRef idx="minor">
            <a:schemeClr val="tx1"/>
          </a:fontRef>
        </p:style>
      </p:cxnSp>
      <p:sp>
        <p:nvSpPr>
          <p:cNvPr id="98" name="Rounded Rectangle 37">
            <a:extLst>
              <a:ext uri="{FF2B5EF4-FFF2-40B4-BE49-F238E27FC236}">
                <a16:creationId xmlns:a16="http://schemas.microsoft.com/office/drawing/2014/main" id="{5B326434-A715-C341-A3D4-319FC8A5CC80}"/>
              </a:ext>
            </a:extLst>
          </p:cNvPr>
          <p:cNvSpPr/>
          <p:nvPr/>
        </p:nvSpPr>
        <p:spPr>
          <a:xfrm>
            <a:off x="483252" y="3566538"/>
            <a:ext cx="1440000" cy="540000"/>
          </a:xfrm>
          <a:prstGeom prst="roundRect">
            <a:avLst/>
          </a:prstGeom>
          <a:solidFill>
            <a:schemeClr val="bg1"/>
          </a:solidFill>
          <a:ln w="16510">
            <a:solidFill>
              <a:srgbClr val="86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900" b="1" dirty="0">
                <a:solidFill>
                  <a:schemeClr val="tx1"/>
                </a:solidFill>
              </a:rPr>
              <a:t>icp2_transformed_MNI_probes_FCP.probej</a:t>
            </a:r>
            <a:endParaRPr lang="en-NL" sz="900" b="1" dirty="0">
              <a:solidFill>
                <a:schemeClr val="tx1"/>
              </a:solidFill>
            </a:endParaRPr>
          </a:p>
        </p:txBody>
      </p:sp>
      <p:cxnSp>
        <p:nvCxnSpPr>
          <p:cNvPr id="99" name="Connector: Elbow 98">
            <a:extLst>
              <a:ext uri="{FF2B5EF4-FFF2-40B4-BE49-F238E27FC236}">
                <a16:creationId xmlns:a16="http://schemas.microsoft.com/office/drawing/2014/main" id="{1B4DD271-6B75-3996-153B-59F2753A7FCC}"/>
              </a:ext>
            </a:extLst>
          </p:cNvPr>
          <p:cNvCxnSpPr>
            <a:cxnSpLocks/>
            <a:stCxn id="98" idx="0"/>
            <a:endCxn id="24" idx="1"/>
          </p:cNvCxnSpPr>
          <p:nvPr/>
        </p:nvCxnSpPr>
        <p:spPr>
          <a:xfrm rot="5400000" flipH="1" flipV="1">
            <a:off x="900608" y="2932104"/>
            <a:ext cx="937079" cy="331790"/>
          </a:xfrm>
          <a:prstGeom prst="bentConnector2">
            <a:avLst/>
          </a:prstGeom>
          <a:ln>
            <a:solidFill>
              <a:srgbClr val="860000"/>
            </a:solidFill>
          </a:ln>
        </p:spPr>
        <p:style>
          <a:lnRef idx="2">
            <a:schemeClr val="accent1"/>
          </a:lnRef>
          <a:fillRef idx="0">
            <a:schemeClr val="accent1"/>
          </a:fillRef>
          <a:effectRef idx="1">
            <a:schemeClr val="accent1"/>
          </a:effectRef>
          <a:fontRef idx="minor">
            <a:schemeClr val="tx1"/>
          </a:fontRef>
        </p:style>
      </p:cxnSp>
      <p:sp>
        <p:nvSpPr>
          <p:cNvPr id="106" name="Rounded Rectangle 37">
            <a:extLst>
              <a:ext uri="{FF2B5EF4-FFF2-40B4-BE49-F238E27FC236}">
                <a16:creationId xmlns:a16="http://schemas.microsoft.com/office/drawing/2014/main" id="{DC884CAB-24B7-6DDB-9F49-EA26B04F4F42}"/>
              </a:ext>
            </a:extLst>
          </p:cNvPr>
          <p:cNvSpPr/>
          <p:nvPr/>
        </p:nvSpPr>
        <p:spPr>
          <a:xfrm>
            <a:off x="9111968" y="4829036"/>
            <a:ext cx="1440000" cy="540000"/>
          </a:xfrm>
          <a:prstGeom prst="roundRect">
            <a:avLst/>
          </a:prstGeom>
          <a:solidFill>
            <a:schemeClr val="bg1"/>
          </a:solidFill>
          <a:ln w="16510">
            <a:solidFill>
              <a:srgbClr val="860000"/>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sz="900" b="1" dirty="0">
                <a:solidFill>
                  <a:schemeClr val="tx1"/>
                </a:solidFill>
              </a:rPr>
              <a:t>icp2_transformed_template_probes_FCP.probej</a:t>
            </a:r>
            <a:endParaRPr lang="en-NL" sz="900" b="1" dirty="0">
              <a:solidFill>
                <a:schemeClr val="tx1"/>
              </a:solidFill>
            </a:endParaRPr>
          </a:p>
        </p:txBody>
      </p:sp>
      <p:cxnSp>
        <p:nvCxnSpPr>
          <p:cNvPr id="107" name="Connector: Elbow 106">
            <a:extLst>
              <a:ext uri="{FF2B5EF4-FFF2-40B4-BE49-F238E27FC236}">
                <a16:creationId xmlns:a16="http://schemas.microsoft.com/office/drawing/2014/main" id="{59B159EF-813A-7310-3331-B24C9A685FB5}"/>
              </a:ext>
            </a:extLst>
          </p:cNvPr>
          <p:cNvCxnSpPr>
            <a:cxnSpLocks/>
            <a:stCxn id="106" idx="0"/>
            <a:endCxn id="128" idx="0"/>
          </p:cNvCxnSpPr>
          <p:nvPr/>
        </p:nvCxnSpPr>
        <p:spPr>
          <a:xfrm rot="16200000" flipV="1">
            <a:off x="7982989" y="2980056"/>
            <a:ext cx="12700" cy="3697959"/>
          </a:xfrm>
          <a:prstGeom prst="bentConnector3">
            <a:avLst>
              <a:gd name="adj1" fmla="val 2081252"/>
            </a:avLst>
          </a:prstGeom>
          <a:ln>
            <a:solidFill>
              <a:srgbClr val="860000"/>
            </a:solidFill>
          </a:ln>
        </p:spPr>
        <p:style>
          <a:lnRef idx="2">
            <a:schemeClr val="accent1"/>
          </a:lnRef>
          <a:fillRef idx="0">
            <a:schemeClr val="accent1"/>
          </a:fillRef>
          <a:effectRef idx="1">
            <a:schemeClr val="accent1"/>
          </a:effectRef>
          <a:fontRef idx="minor">
            <a:schemeClr val="tx1"/>
          </a:fontRef>
        </p:style>
      </p:cxnSp>
      <p:sp>
        <p:nvSpPr>
          <p:cNvPr id="172" name="Rounded Rectangle 37">
            <a:extLst>
              <a:ext uri="{FF2B5EF4-FFF2-40B4-BE49-F238E27FC236}">
                <a16:creationId xmlns:a16="http://schemas.microsoft.com/office/drawing/2014/main" id="{08FDF451-9DD0-7C0F-498B-177CFDF072F4}"/>
              </a:ext>
            </a:extLst>
          </p:cNvPr>
          <p:cNvSpPr/>
          <p:nvPr/>
        </p:nvSpPr>
        <p:spPr>
          <a:xfrm>
            <a:off x="8672172" y="6262584"/>
            <a:ext cx="180000" cy="178978"/>
          </a:xfrm>
          <a:prstGeom prst="roundRect">
            <a:avLst/>
          </a:prstGeom>
          <a:solidFill>
            <a:schemeClr val="bg1"/>
          </a:solidFill>
          <a:ln w="1651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900" b="1" dirty="0">
              <a:solidFill>
                <a:schemeClr val="tx1"/>
              </a:solidFill>
            </a:endParaRPr>
          </a:p>
        </p:txBody>
      </p:sp>
      <p:sp>
        <p:nvSpPr>
          <p:cNvPr id="174" name="Rounded Rectangle 37">
            <a:extLst>
              <a:ext uri="{FF2B5EF4-FFF2-40B4-BE49-F238E27FC236}">
                <a16:creationId xmlns:a16="http://schemas.microsoft.com/office/drawing/2014/main" id="{93BFC8AA-160A-A473-7923-868E067B01DD}"/>
              </a:ext>
            </a:extLst>
          </p:cNvPr>
          <p:cNvSpPr/>
          <p:nvPr/>
        </p:nvSpPr>
        <p:spPr>
          <a:xfrm>
            <a:off x="10230080" y="5920734"/>
            <a:ext cx="180000" cy="180000"/>
          </a:xfrm>
          <a:prstGeom prst="roundRect">
            <a:avLst/>
          </a:prstGeom>
          <a:solidFill>
            <a:schemeClr val="bg1"/>
          </a:solidFill>
          <a:ln w="16510">
            <a:solidFill>
              <a:srgbClr val="86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900" b="1" dirty="0">
              <a:solidFill>
                <a:schemeClr val="tx1"/>
              </a:solidFill>
            </a:endParaRPr>
          </a:p>
        </p:txBody>
      </p:sp>
      <p:sp>
        <p:nvSpPr>
          <p:cNvPr id="176" name="Rounded Rectangle 32">
            <a:extLst>
              <a:ext uri="{FF2B5EF4-FFF2-40B4-BE49-F238E27FC236}">
                <a16:creationId xmlns:a16="http://schemas.microsoft.com/office/drawing/2014/main" id="{ACA21D45-858D-9A3C-B2C5-8187F98A77E1}"/>
              </a:ext>
            </a:extLst>
          </p:cNvPr>
          <p:cNvSpPr/>
          <p:nvPr/>
        </p:nvSpPr>
        <p:spPr>
          <a:xfrm>
            <a:off x="8672172" y="5920526"/>
            <a:ext cx="180000" cy="180000"/>
          </a:xfrm>
          <a:prstGeom prst="roundRect">
            <a:avLst/>
          </a:prstGeom>
          <a:pattFill prst="ltUpDiag">
            <a:fgClr>
              <a:schemeClr val="bg1">
                <a:lumMod val="65000"/>
              </a:schemeClr>
            </a:fgClr>
            <a:bgClr>
              <a:schemeClr val="bg1"/>
            </a:bgClr>
          </a:pattFill>
          <a:ln w="19050">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b="1" dirty="0">
              <a:solidFill>
                <a:srgbClr val="2D2D2D"/>
              </a:solidFill>
              <a:latin typeface="Aptos"/>
            </a:endParaRPr>
          </a:p>
        </p:txBody>
      </p:sp>
      <p:sp>
        <p:nvSpPr>
          <p:cNvPr id="177" name="TextBox 176">
            <a:extLst>
              <a:ext uri="{FF2B5EF4-FFF2-40B4-BE49-F238E27FC236}">
                <a16:creationId xmlns:a16="http://schemas.microsoft.com/office/drawing/2014/main" id="{FF6AFD9A-1316-82A5-E9F3-599DD7D30E65}"/>
              </a:ext>
            </a:extLst>
          </p:cNvPr>
          <p:cNvSpPr txBox="1"/>
          <p:nvPr/>
        </p:nvSpPr>
        <p:spPr>
          <a:xfrm>
            <a:off x="8824379" y="5896937"/>
            <a:ext cx="1020472" cy="276999"/>
          </a:xfrm>
          <a:prstGeom prst="rect">
            <a:avLst/>
          </a:prstGeom>
          <a:noFill/>
        </p:spPr>
        <p:txBody>
          <a:bodyPr wrap="none" rtlCol="0">
            <a:spAutoFit/>
          </a:bodyPr>
          <a:lstStyle/>
          <a:p>
            <a:r>
              <a:rPr lang="it-IT" sz="1200" dirty="0"/>
              <a:t>Manual steps</a:t>
            </a:r>
            <a:endParaRPr lang="en-NL" sz="1200" dirty="0"/>
          </a:p>
        </p:txBody>
      </p:sp>
      <p:sp>
        <p:nvSpPr>
          <p:cNvPr id="179" name="TextBox 178">
            <a:extLst>
              <a:ext uri="{FF2B5EF4-FFF2-40B4-BE49-F238E27FC236}">
                <a16:creationId xmlns:a16="http://schemas.microsoft.com/office/drawing/2014/main" id="{8023D418-B1CD-19EF-326B-EE60C72783CC}"/>
              </a:ext>
            </a:extLst>
          </p:cNvPr>
          <p:cNvSpPr txBox="1"/>
          <p:nvPr/>
        </p:nvSpPr>
        <p:spPr>
          <a:xfrm>
            <a:off x="10386581" y="5893512"/>
            <a:ext cx="1405962" cy="276999"/>
          </a:xfrm>
          <a:prstGeom prst="rect">
            <a:avLst/>
          </a:prstGeom>
          <a:noFill/>
        </p:spPr>
        <p:txBody>
          <a:bodyPr wrap="none" rtlCol="0">
            <a:spAutoFit/>
          </a:bodyPr>
          <a:lstStyle/>
          <a:p>
            <a:r>
              <a:rPr lang="it-IT" sz="1200" dirty="0"/>
              <a:t>Intermidiate results</a:t>
            </a:r>
            <a:endParaRPr lang="en-NL" sz="1200" dirty="0"/>
          </a:p>
        </p:txBody>
      </p:sp>
      <p:sp>
        <p:nvSpPr>
          <p:cNvPr id="181" name="TextBox 180">
            <a:extLst>
              <a:ext uri="{FF2B5EF4-FFF2-40B4-BE49-F238E27FC236}">
                <a16:creationId xmlns:a16="http://schemas.microsoft.com/office/drawing/2014/main" id="{05D7A9B9-CB75-C2A1-9119-2BAFDDCEA25F}"/>
              </a:ext>
            </a:extLst>
          </p:cNvPr>
          <p:cNvSpPr txBox="1"/>
          <p:nvPr/>
        </p:nvSpPr>
        <p:spPr>
          <a:xfrm>
            <a:off x="8824379" y="6216536"/>
            <a:ext cx="931217" cy="276999"/>
          </a:xfrm>
          <a:prstGeom prst="rect">
            <a:avLst/>
          </a:prstGeom>
          <a:noFill/>
        </p:spPr>
        <p:txBody>
          <a:bodyPr wrap="none" rtlCol="0">
            <a:spAutoFit/>
          </a:bodyPr>
          <a:lstStyle/>
          <a:p>
            <a:r>
              <a:rPr lang="it-IT" sz="1200" dirty="0"/>
              <a:t>Final results</a:t>
            </a:r>
            <a:endParaRPr lang="en-NL"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35D33A-F98B-338C-4FA2-ABB9A61D3FF5}"/>
              </a:ext>
            </a:extLst>
          </p:cNvPr>
          <p:cNvSpPr txBox="1"/>
          <p:nvPr/>
        </p:nvSpPr>
        <p:spPr>
          <a:xfrm>
            <a:off x="646268" y="288758"/>
            <a:ext cx="10952174" cy="2339102"/>
          </a:xfrm>
          <a:prstGeom prst="rect">
            <a:avLst/>
          </a:prstGeom>
          <a:noFill/>
        </p:spPr>
        <p:txBody>
          <a:bodyPr wrap="square" rtlCol="0">
            <a:spAutoFit/>
          </a:bodyPr>
          <a:lstStyle/>
          <a:p>
            <a:r>
              <a:rPr lang="it-IT" sz="2000" b="1" dirty="0"/>
              <a:t>3D head model preparation</a:t>
            </a:r>
          </a:p>
          <a:p>
            <a:endParaRPr lang="it-IT" dirty="0"/>
          </a:p>
          <a:p>
            <a:pPr marL="342900" indent="-342900">
              <a:buFont typeface="+mj-lt"/>
              <a:buAutoNum type="arabicPeriod"/>
            </a:pPr>
            <a:r>
              <a:rPr lang="it-IT" sz="1600" dirty="0"/>
              <a:t>Load nu.mgz volume in BV</a:t>
            </a:r>
          </a:p>
          <a:p>
            <a:pPr marL="342900" indent="-342900">
              <a:buFont typeface="+mj-lt"/>
              <a:buAutoNum type="arabicPeriod"/>
            </a:pPr>
            <a:r>
              <a:rPr lang="it-IT" sz="1600" dirty="0"/>
              <a:t>Switch to mesh view (3D Viewer button in the Volume tools) and create a Sphere mesh</a:t>
            </a:r>
          </a:p>
          <a:p>
            <a:pPr marL="342900" indent="-342900">
              <a:buFont typeface="+mj-lt"/>
              <a:buAutoNum type="arabicPeriod"/>
            </a:pPr>
            <a:r>
              <a:rPr lang="it-IT" sz="1600" dirty="0"/>
              <a:t>Morph the Sphere to the head using intensity thresholding *</a:t>
            </a:r>
          </a:p>
          <a:p>
            <a:pPr marL="342900" indent="-342900">
              <a:buFont typeface="+mj-lt"/>
              <a:buAutoNum type="arabicPeriod"/>
            </a:pPr>
            <a:r>
              <a:rPr lang="it-IT" sz="1600" dirty="0"/>
              <a:t>Delimit the probe area using a POI</a:t>
            </a:r>
          </a:p>
          <a:p>
            <a:pPr marL="342900" indent="-342900">
              <a:buFont typeface="+mj-lt"/>
              <a:buAutoNum type="arabicPeriod"/>
            </a:pPr>
            <a:endParaRPr lang="it-IT" sz="1600" dirty="0"/>
          </a:p>
          <a:p>
            <a:r>
              <a:rPr lang="it-IT" sz="1400" dirty="0"/>
              <a:t>* Eventually change the VMR intensity in the Mesh Morphing options if needed. Higher values move the mesh more inside to the head</a:t>
            </a:r>
          </a:p>
          <a:p>
            <a:r>
              <a:rPr lang="it-IT" sz="1400" dirty="0"/>
              <a:t>The 3D model creation step is scriptable in python </a:t>
            </a:r>
            <a:endParaRPr lang="it-IT" sz="1600" dirty="0"/>
          </a:p>
        </p:txBody>
      </p:sp>
      <p:pic>
        <p:nvPicPr>
          <p:cNvPr id="6" name="Picture 5">
            <a:extLst>
              <a:ext uri="{FF2B5EF4-FFF2-40B4-BE49-F238E27FC236}">
                <a16:creationId xmlns:a16="http://schemas.microsoft.com/office/drawing/2014/main" id="{96EB6F39-B90D-2ECC-79E1-6D823B4F651A}"/>
              </a:ext>
            </a:extLst>
          </p:cNvPr>
          <p:cNvPicPr>
            <a:picLocks noChangeAspect="1"/>
          </p:cNvPicPr>
          <p:nvPr/>
        </p:nvPicPr>
        <p:blipFill>
          <a:blip r:embed="rId2"/>
          <a:stretch>
            <a:fillRect/>
          </a:stretch>
        </p:blipFill>
        <p:spPr>
          <a:xfrm>
            <a:off x="772786" y="2853202"/>
            <a:ext cx="3505871" cy="3551035"/>
          </a:xfrm>
          <a:prstGeom prst="rect">
            <a:avLst/>
          </a:prstGeom>
        </p:spPr>
      </p:pic>
      <p:sp>
        <p:nvSpPr>
          <p:cNvPr id="7" name="TextBox 6">
            <a:extLst>
              <a:ext uri="{FF2B5EF4-FFF2-40B4-BE49-F238E27FC236}">
                <a16:creationId xmlns:a16="http://schemas.microsoft.com/office/drawing/2014/main" id="{466ED9FD-51AC-7608-17E0-3A85E9070A26}"/>
              </a:ext>
            </a:extLst>
          </p:cNvPr>
          <p:cNvSpPr txBox="1"/>
          <p:nvPr/>
        </p:nvSpPr>
        <p:spPr>
          <a:xfrm>
            <a:off x="772786" y="5958859"/>
            <a:ext cx="301686" cy="369332"/>
          </a:xfrm>
          <a:prstGeom prst="rect">
            <a:avLst/>
          </a:prstGeom>
          <a:noFill/>
        </p:spPr>
        <p:txBody>
          <a:bodyPr wrap="none" rtlCol="0">
            <a:spAutoFit/>
          </a:bodyPr>
          <a:lstStyle/>
          <a:p>
            <a:r>
              <a:rPr lang="it-IT" dirty="0">
                <a:solidFill>
                  <a:schemeClr val="bg1"/>
                </a:solidFill>
              </a:rPr>
              <a:t>2</a:t>
            </a:r>
            <a:endParaRPr lang="en-NL" dirty="0">
              <a:solidFill>
                <a:schemeClr val="bg1"/>
              </a:solidFill>
            </a:endParaRPr>
          </a:p>
        </p:txBody>
      </p:sp>
      <p:pic>
        <p:nvPicPr>
          <p:cNvPr id="9" name="Picture 8">
            <a:extLst>
              <a:ext uri="{FF2B5EF4-FFF2-40B4-BE49-F238E27FC236}">
                <a16:creationId xmlns:a16="http://schemas.microsoft.com/office/drawing/2014/main" id="{7EF30B07-9B8D-3328-3FD8-60E9A58262BD}"/>
              </a:ext>
            </a:extLst>
          </p:cNvPr>
          <p:cNvPicPr>
            <a:picLocks noChangeAspect="1"/>
          </p:cNvPicPr>
          <p:nvPr/>
        </p:nvPicPr>
        <p:blipFill>
          <a:blip r:embed="rId3"/>
          <a:stretch>
            <a:fillRect/>
          </a:stretch>
        </p:blipFill>
        <p:spPr>
          <a:xfrm>
            <a:off x="4787449" y="2853201"/>
            <a:ext cx="3505871" cy="3551035"/>
          </a:xfrm>
          <a:prstGeom prst="rect">
            <a:avLst/>
          </a:prstGeom>
        </p:spPr>
      </p:pic>
      <p:sp>
        <p:nvSpPr>
          <p:cNvPr id="11" name="TextBox 10">
            <a:extLst>
              <a:ext uri="{FF2B5EF4-FFF2-40B4-BE49-F238E27FC236}">
                <a16:creationId xmlns:a16="http://schemas.microsoft.com/office/drawing/2014/main" id="{86C1ADB2-1AC6-45B9-462A-E000681CC602}"/>
              </a:ext>
            </a:extLst>
          </p:cNvPr>
          <p:cNvSpPr txBox="1"/>
          <p:nvPr/>
        </p:nvSpPr>
        <p:spPr>
          <a:xfrm>
            <a:off x="4813124" y="5974538"/>
            <a:ext cx="301686" cy="369332"/>
          </a:xfrm>
          <a:prstGeom prst="rect">
            <a:avLst/>
          </a:prstGeom>
          <a:noFill/>
        </p:spPr>
        <p:txBody>
          <a:bodyPr wrap="none" rtlCol="0">
            <a:spAutoFit/>
          </a:bodyPr>
          <a:lstStyle/>
          <a:p>
            <a:r>
              <a:rPr lang="it-IT" dirty="0">
                <a:solidFill>
                  <a:schemeClr val="bg1"/>
                </a:solidFill>
              </a:rPr>
              <a:t>3</a:t>
            </a:r>
            <a:endParaRPr lang="en-NL" dirty="0">
              <a:solidFill>
                <a:schemeClr val="bg1"/>
              </a:solidFill>
            </a:endParaRPr>
          </a:p>
        </p:txBody>
      </p:sp>
      <p:pic>
        <p:nvPicPr>
          <p:cNvPr id="13" name="Picture 12">
            <a:extLst>
              <a:ext uri="{FF2B5EF4-FFF2-40B4-BE49-F238E27FC236}">
                <a16:creationId xmlns:a16="http://schemas.microsoft.com/office/drawing/2014/main" id="{95F23022-0143-39E0-0E82-12C11D056DF6}"/>
              </a:ext>
            </a:extLst>
          </p:cNvPr>
          <p:cNvPicPr>
            <a:picLocks noChangeAspect="1"/>
          </p:cNvPicPr>
          <p:nvPr/>
        </p:nvPicPr>
        <p:blipFill>
          <a:blip r:embed="rId4"/>
          <a:stretch>
            <a:fillRect/>
          </a:stretch>
        </p:blipFill>
        <p:spPr>
          <a:xfrm>
            <a:off x="8808986" y="2853202"/>
            <a:ext cx="2679673" cy="3551035"/>
          </a:xfrm>
          <a:prstGeom prst="rect">
            <a:avLst/>
          </a:prstGeom>
        </p:spPr>
      </p:pic>
      <p:sp>
        <p:nvSpPr>
          <p:cNvPr id="15" name="TextBox 14">
            <a:extLst>
              <a:ext uri="{FF2B5EF4-FFF2-40B4-BE49-F238E27FC236}">
                <a16:creationId xmlns:a16="http://schemas.microsoft.com/office/drawing/2014/main" id="{E14BB001-650B-C6EA-475B-2B09AC150EAA}"/>
              </a:ext>
            </a:extLst>
          </p:cNvPr>
          <p:cNvSpPr txBox="1"/>
          <p:nvPr/>
        </p:nvSpPr>
        <p:spPr>
          <a:xfrm>
            <a:off x="8876347" y="5974538"/>
            <a:ext cx="501629" cy="369332"/>
          </a:xfrm>
          <a:prstGeom prst="rect">
            <a:avLst/>
          </a:prstGeom>
          <a:noFill/>
        </p:spPr>
        <p:txBody>
          <a:bodyPr wrap="square" rtlCol="0">
            <a:spAutoFit/>
          </a:bodyPr>
          <a:lstStyle/>
          <a:p>
            <a:r>
              <a:rPr lang="it-IT" dirty="0">
                <a:solidFill>
                  <a:schemeClr val="bg1"/>
                </a:solidFill>
              </a:rPr>
              <a:t>3*</a:t>
            </a:r>
            <a:endParaRPr lang="en-NL" dirty="0">
              <a:solidFill>
                <a:schemeClr val="bg1"/>
              </a:solidFill>
            </a:endParaRPr>
          </a:p>
        </p:txBody>
      </p:sp>
    </p:spTree>
    <p:extLst>
      <p:ext uri="{BB962C8B-B14F-4D97-AF65-F5344CB8AC3E}">
        <p14:creationId xmlns:p14="http://schemas.microsoft.com/office/powerpoint/2010/main" val="4105484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15CA4-F23B-1BC8-47D1-B10036120FA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75FC9C-3E70-A0B9-A2FD-CF809EC8D3FA}"/>
              </a:ext>
            </a:extLst>
          </p:cNvPr>
          <p:cNvSpPr txBox="1"/>
          <p:nvPr/>
        </p:nvSpPr>
        <p:spPr>
          <a:xfrm>
            <a:off x="646268" y="288758"/>
            <a:ext cx="10952174" cy="1908215"/>
          </a:xfrm>
          <a:prstGeom prst="rect">
            <a:avLst/>
          </a:prstGeom>
          <a:noFill/>
        </p:spPr>
        <p:txBody>
          <a:bodyPr wrap="square" rtlCol="0">
            <a:spAutoFit/>
          </a:bodyPr>
          <a:lstStyle/>
          <a:p>
            <a:r>
              <a:rPr lang="it-IT" sz="2000" b="1" dirty="0"/>
              <a:t>3D head model preparation</a:t>
            </a:r>
          </a:p>
          <a:p>
            <a:endParaRPr lang="it-IT" dirty="0"/>
          </a:p>
          <a:p>
            <a:r>
              <a:rPr lang="it-IT" sz="1600" dirty="0"/>
              <a:t>4a.	Enable POI drawing in the 3D Viewer</a:t>
            </a:r>
          </a:p>
          <a:p>
            <a:r>
              <a:rPr lang="it-IT" sz="1600" dirty="0"/>
              <a:t>4b.	Hold CTRL down while drawing a closed line on the surface</a:t>
            </a:r>
          </a:p>
          <a:p>
            <a:r>
              <a:rPr lang="it-IT" sz="1600" dirty="0"/>
              <a:t>4c.	Holde CTRL + SHIFT down while clicking inside the drawed line to fill the patch</a:t>
            </a:r>
          </a:p>
          <a:p>
            <a:r>
              <a:rPr lang="it-IT" sz="1600" dirty="0"/>
              <a:t>4d.	Save to define POI by pressing again on the POI drawing button</a:t>
            </a:r>
          </a:p>
          <a:p>
            <a:pPr marL="342900" indent="-342900">
              <a:buFont typeface="+mj-lt"/>
              <a:buAutoNum type="arabicPeriod"/>
            </a:pPr>
            <a:endParaRPr lang="it-IT" sz="1600" dirty="0"/>
          </a:p>
        </p:txBody>
      </p:sp>
      <p:pic>
        <p:nvPicPr>
          <p:cNvPr id="3" name="Picture 2">
            <a:extLst>
              <a:ext uri="{FF2B5EF4-FFF2-40B4-BE49-F238E27FC236}">
                <a16:creationId xmlns:a16="http://schemas.microsoft.com/office/drawing/2014/main" id="{089F6206-5325-B0D1-EF6E-5918BAEA9E25}"/>
              </a:ext>
            </a:extLst>
          </p:cNvPr>
          <p:cNvPicPr>
            <a:picLocks noChangeAspect="1"/>
          </p:cNvPicPr>
          <p:nvPr/>
        </p:nvPicPr>
        <p:blipFill>
          <a:blip r:embed="rId2"/>
          <a:stretch>
            <a:fillRect/>
          </a:stretch>
        </p:blipFill>
        <p:spPr>
          <a:xfrm>
            <a:off x="481464" y="2416097"/>
            <a:ext cx="3614750" cy="3661317"/>
          </a:xfrm>
          <a:prstGeom prst="rect">
            <a:avLst/>
          </a:prstGeom>
        </p:spPr>
      </p:pic>
      <p:pic>
        <p:nvPicPr>
          <p:cNvPr id="12" name="Picture 11">
            <a:extLst>
              <a:ext uri="{FF2B5EF4-FFF2-40B4-BE49-F238E27FC236}">
                <a16:creationId xmlns:a16="http://schemas.microsoft.com/office/drawing/2014/main" id="{F00502A5-F2EA-CE06-28A6-30D6C96B1108}"/>
              </a:ext>
            </a:extLst>
          </p:cNvPr>
          <p:cNvPicPr>
            <a:picLocks noChangeAspect="1"/>
          </p:cNvPicPr>
          <p:nvPr/>
        </p:nvPicPr>
        <p:blipFill>
          <a:blip r:embed="rId3"/>
          <a:stretch>
            <a:fillRect/>
          </a:stretch>
        </p:blipFill>
        <p:spPr>
          <a:xfrm>
            <a:off x="4288625" y="2416097"/>
            <a:ext cx="3614750" cy="3661317"/>
          </a:xfrm>
          <a:prstGeom prst="rect">
            <a:avLst/>
          </a:prstGeom>
        </p:spPr>
      </p:pic>
      <p:pic>
        <p:nvPicPr>
          <p:cNvPr id="16" name="Picture 15">
            <a:extLst>
              <a:ext uri="{FF2B5EF4-FFF2-40B4-BE49-F238E27FC236}">
                <a16:creationId xmlns:a16="http://schemas.microsoft.com/office/drawing/2014/main" id="{575F1912-DE87-74F5-713D-FE5DD271BC11}"/>
              </a:ext>
            </a:extLst>
          </p:cNvPr>
          <p:cNvPicPr>
            <a:picLocks noChangeAspect="1"/>
          </p:cNvPicPr>
          <p:nvPr/>
        </p:nvPicPr>
        <p:blipFill>
          <a:blip r:embed="rId4"/>
          <a:stretch>
            <a:fillRect/>
          </a:stretch>
        </p:blipFill>
        <p:spPr>
          <a:xfrm>
            <a:off x="8095785" y="2416096"/>
            <a:ext cx="3614751" cy="3661317"/>
          </a:xfrm>
          <a:prstGeom prst="rect">
            <a:avLst/>
          </a:prstGeom>
        </p:spPr>
      </p:pic>
      <p:sp>
        <p:nvSpPr>
          <p:cNvPr id="17" name="TextBox 16">
            <a:extLst>
              <a:ext uri="{FF2B5EF4-FFF2-40B4-BE49-F238E27FC236}">
                <a16:creationId xmlns:a16="http://schemas.microsoft.com/office/drawing/2014/main" id="{79BDEFB2-CBE9-2A48-6861-67CB8E5890F5}"/>
              </a:ext>
            </a:extLst>
          </p:cNvPr>
          <p:cNvSpPr txBox="1"/>
          <p:nvPr/>
        </p:nvSpPr>
        <p:spPr>
          <a:xfrm>
            <a:off x="481464" y="5685834"/>
            <a:ext cx="412292" cy="369332"/>
          </a:xfrm>
          <a:prstGeom prst="rect">
            <a:avLst/>
          </a:prstGeom>
          <a:noFill/>
        </p:spPr>
        <p:txBody>
          <a:bodyPr wrap="none" rtlCol="0">
            <a:spAutoFit/>
          </a:bodyPr>
          <a:lstStyle/>
          <a:p>
            <a:r>
              <a:rPr lang="it-IT" dirty="0">
                <a:solidFill>
                  <a:schemeClr val="bg1"/>
                </a:solidFill>
              </a:rPr>
              <a:t>4a</a:t>
            </a:r>
            <a:endParaRPr lang="en-NL" dirty="0">
              <a:solidFill>
                <a:schemeClr val="bg1"/>
              </a:solidFill>
            </a:endParaRPr>
          </a:p>
        </p:txBody>
      </p:sp>
      <p:sp>
        <p:nvSpPr>
          <p:cNvPr id="19" name="TextBox 18">
            <a:extLst>
              <a:ext uri="{FF2B5EF4-FFF2-40B4-BE49-F238E27FC236}">
                <a16:creationId xmlns:a16="http://schemas.microsoft.com/office/drawing/2014/main" id="{01079327-70E5-9296-93A9-BC0649BE20E7}"/>
              </a:ext>
            </a:extLst>
          </p:cNvPr>
          <p:cNvSpPr txBox="1"/>
          <p:nvPr/>
        </p:nvSpPr>
        <p:spPr>
          <a:xfrm>
            <a:off x="4288624" y="5687033"/>
            <a:ext cx="423514" cy="369332"/>
          </a:xfrm>
          <a:prstGeom prst="rect">
            <a:avLst/>
          </a:prstGeom>
          <a:noFill/>
        </p:spPr>
        <p:txBody>
          <a:bodyPr wrap="none" rtlCol="0">
            <a:spAutoFit/>
          </a:bodyPr>
          <a:lstStyle/>
          <a:p>
            <a:r>
              <a:rPr lang="it-IT" dirty="0">
                <a:solidFill>
                  <a:schemeClr val="bg1"/>
                </a:solidFill>
              </a:rPr>
              <a:t>4b</a:t>
            </a:r>
            <a:endParaRPr lang="en-NL" dirty="0">
              <a:solidFill>
                <a:schemeClr val="bg1"/>
              </a:solidFill>
            </a:endParaRPr>
          </a:p>
        </p:txBody>
      </p:sp>
      <p:sp>
        <p:nvSpPr>
          <p:cNvPr id="21" name="TextBox 20">
            <a:extLst>
              <a:ext uri="{FF2B5EF4-FFF2-40B4-BE49-F238E27FC236}">
                <a16:creationId xmlns:a16="http://schemas.microsoft.com/office/drawing/2014/main" id="{3AE10929-A735-6B52-E9C7-D8D5AA16CB01}"/>
              </a:ext>
            </a:extLst>
          </p:cNvPr>
          <p:cNvSpPr txBox="1"/>
          <p:nvPr/>
        </p:nvSpPr>
        <p:spPr>
          <a:xfrm>
            <a:off x="8095785" y="5687033"/>
            <a:ext cx="399468" cy="369332"/>
          </a:xfrm>
          <a:prstGeom prst="rect">
            <a:avLst/>
          </a:prstGeom>
          <a:noFill/>
        </p:spPr>
        <p:txBody>
          <a:bodyPr wrap="none" rtlCol="0">
            <a:spAutoFit/>
          </a:bodyPr>
          <a:lstStyle/>
          <a:p>
            <a:r>
              <a:rPr lang="it-IT" dirty="0">
                <a:solidFill>
                  <a:schemeClr val="bg1"/>
                </a:solidFill>
              </a:rPr>
              <a:t>4c</a:t>
            </a:r>
            <a:endParaRPr lang="en-NL" dirty="0">
              <a:solidFill>
                <a:schemeClr val="bg1"/>
              </a:solidFill>
            </a:endParaRPr>
          </a:p>
        </p:txBody>
      </p:sp>
    </p:spTree>
    <p:extLst>
      <p:ext uri="{BB962C8B-B14F-4D97-AF65-F5344CB8AC3E}">
        <p14:creationId xmlns:p14="http://schemas.microsoft.com/office/powerpoint/2010/main" val="1735165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10DC48-E65B-7DA3-248B-5D4E65637F25}"/>
              </a:ext>
            </a:extLst>
          </p:cNvPr>
          <p:cNvSpPr txBox="1"/>
          <p:nvPr/>
        </p:nvSpPr>
        <p:spPr>
          <a:xfrm>
            <a:off x="405637" y="268133"/>
            <a:ext cx="9013371" cy="954107"/>
          </a:xfrm>
          <a:prstGeom prst="rect">
            <a:avLst/>
          </a:prstGeom>
          <a:noFill/>
        </p:spPr>
        <p:txBody>
          <a:bodyPr wrap="square" rtlCol="0">
            <a:spAutoFit/>
          </a:bodyPr>
          <a:lstStyle/>
          <a:p>
            <a:r>
              <a:rPr lang="en-GB" b="1" dirty="0"/>
              <a:t> </a:t>
            </a:r>
            <a:r>
              <a:rPr lang="en-GB" sz="2000" b="1" dirty="0"/>
              <a:t>MNI probe detection GUI </a:t>
            </a:r>
          </a:p>
          <a:p>
            <a:endParaRPr lang="en-GB" b="1" dirty="0"/>
          </a:p>
          <a:p>
            <a:endParaRPr lang="en-NL" dirty="0"/>
          </a:p>
        </p:txBody>
      </p:sp>
      <p:pic>
        <p:nvPicPr>
          <p:cNvPr id="5" name="Picture 4">
            <a:extLst>
              <a:ext uri="{FF2B5EF4-FFF2-40B4-BE49-F238E27FC236}">
                <a16:creationId xmlns:a16="http://schemas.microsoft.com/office/drawing/2014/main" id="{AD9CC174-8064-8AEB-B2A6-00009D0F3C0A}"/>
              </a:ext>
            </a:extLst>
          </p:cNvPr>
          <p:cNvPicPr>
            <a:picLocks noChangeAspect="1"/>
          </p:cNvPicPr>
          <p:nvPr/>
        </p:nvPicPr>
        <p:blipFill>
          <a:blip r:embed="rId2"/>
          <a:stretch>
            <a:fillRect/>
          </a:stretch>
        </p:blipFill>
        <p:spPr>
          <a:xfrm>
            <a:off x="3562570" y="1069910"/>
            <a:ext cx="4929359" cy="5086819"/>
          </a:xfrm>
          <a:prstGeom prst="rect">
            <a:avLst/>
          </a:prstGeom>
        </p:spPr>
      </p:pic>
      <p:sp>
        <p:nvSpPr>
          <p:cNvPr id="6" name="Rectangle 5">
            <a:extLst>
              <a:ext uri="{FF2B5EF4-FFF2-40B4-BE49-F238E27FC236}">
                <a16:creationId xmlns:a16="http://schemas.microsoft.com/office/drawing/2014/main" id="{53E5C2DF-05F2-0C0A-4C77-C92C7F017541}"/>
              </a:ext>
            </a:extLst>
          </p:cNvPr>
          <p:cNvSpPr/>
          <p:nvPr/>
        </p:nvSpPr>
        <p:spPr>
          <a:xfrm>
            <a:off x="3562569" y="1242866"/>
            <a:ext cx="4929359" cy="228425"/>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8" name="Straight Connector 7">
            <a:extLst>
              <a:ext uri="{FF2B5EF4-FFF2-40B4-BE49-F238E27FC236}">
                <a16:creationId xmlns:a16="http://schemas.microsoft.com/office/drawing/2014/main" id="{6DDDCA79-F5C0-E4C9-46AC-0CA536508311}"/>
              </a:ext>
            </a:extLst>
          </p:cNvPr>
          <p:cNvCxnSpPr>
            <a:cxnSpLocks/>
            <a:stCxn id="6" idx="1"/>
            <a:endCxn id="23" idx="3"/>
          </p:cNvCxnSpPr>
          <p:nvPr/>
        </p:nvCxnSpPr>
        <p:spPr>
          <a:xfrm flipH="1">
            <a:off x="2908205" y="1357079"/>
            <a:ext cx="654364" cy="535989"/>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198E8B37-808D-9026-B2AB-6A859928DBB2}"/>
              </a:ext>
            </a:extLst>
          </p:cNvPr>
          <p:cNvSpPr txBox="1"/>
          <p:nvPr/>
        </p:nvSpPr>
        <p:spPr>
          <a:xfrm>
            <a:off x="643900" y="1108238"/>
            <a:ext cx="2264305" cy="1569660"/>
          </a:xfrm>
          <a:prstGeom prst="rect">
            <a:avLst/>
          </a:prstGeom>
          <a:noFill/>
          <a:ln w="12700">
            <a:solidFill>
              <a:srgbClr val="FF0000"/>
            </a:solidFill>
          </a:ln>
        </p:spPr>
        <p:txBody>
          <a:bodyPr wrap="square" rtlCol="0">
            <a:spAutoFit/>
          </a:bodyPr>
          <a:lstStyle/>
          <a:p>
            <a:r>
              <a:rPr lang="it-IT" sz="1200" dirty="0"/>
              <a:t>If the ‘Use BIDS standard’ option is checked, the results will be saved at the specified location in the subfolder indicating the subject ID. If the BIDS option is unchecked, results are saved under DOTImager/MRI in the .snirf file folder.</a:t>
            </a:r>
            <a:endParaRPr lang="en-NL" sz="1200" dirty="0"/>
          </a:p>
        </p:txBody>
      </p:sp>
      <p:sp>
        <p:nvSpPr>
          <p:cNvPr id="29" name="Rectangle 28">
            <a:extLst>
              <a:ext uri="{FF2B5EF4-FFF2-40B4-BE49-F238E27FC236}">
                <a16:creationId xmlns:a16="http://schemas.microsoft.com/office/drawing/2014/main" id="{639E5123-CA07-5B44-2CB4-7183BDFC56D6}"/>
              </a:ext>
            </a:extLst>
          </p:cNvPr>
          <p:cNvSpPr/>
          <p:nvPr/>
        </p:nvSpPr>
        <p:spPr>
          <a:xfrm>
            <a:off x="3562570" y="1730283"/>
            <a:ext cx="4929359" cy="228425"/>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30" name="Straight Connector 29">
            <a:extLst>
              <a:ext uri="{FF2B5EF4-FFF2-40B4-BE49-F238E27FC236}">
                <a16:creationId xmlns:a16="http://schemas.microsoft.com/office/drawing/2014/main" id="{14BDB4CD-4D84-F82D-1FFC-423D8DE79F02}"/>
              </a:ext>
            </a:extLst>
          </p:cNvPr>
          <p:cNvCxnSpPr>
            <a:cxnSpLocks/>
            <a:stCxn id="29" idx="1"/>
            <a:endCxn id="31" idx="3"/>
          </p:cNvCxnSpPr>
          <p:nvPr/>
        </p:nvCxnSpPr>
        <p:spPr>
          <a:xfrm flipH="1">
            <a:off x="2908206" y="1844496"/>
            <a:ext cx="654364" cy="1712459"/>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7D02F241-B27E-F5BD-458F-F3FE9FE1FCA0}"/>
              </a:ext>
            </a:extLst>
          </p:cNvPr>
          <p:cNvSpPr txBox="1"/>
          <p:nvPr/>
        </p:nvSpPr>
        <p:spPr>
          <a:xfrm>
            <a:off x="643900" y="3233789"/>
            <a:ext cx="2264306" cy="646331"/>
          </a:xfrm>
          <a:prstGeom prst="rect">
            <a:avLst/>
          </a:prstGeom>
          <a:noFill/>
          <a:ln w="12700">
            <a:solidFill>
              <a:srgbClr val="FF0000"/>
            </a:solidFill>
          </a:ln>
        </p:spPr>
        <p:txBody>
          <a:bodyPr wrap="square" rtlCol="0">
            <a:spAutoFit/>
          </a:bodyPr>
          <a:lstStyle/>
          <a:p>
            <a:r>
              <a:rPr lang="it-IT" sz="1200" dirty="0"/>
              <a:t>It is recommended to use a patch to restrict the probe detection area.</a:t>
            </a:r>
            <a:endParaRPr lang="en-NL" sz="1200" dirty="0"/>
          </a:p>
        </p:txBody>
      </p:sp>
      <p:sp>
        <p:nvSpPr>
          <p:cNvPr id="33" name="Rectangle 32">
            <a:extLst>
              <a:ext uri="{FF2B5EF4-FFF2-40B4-BE49-F238E27FC236}">
                <a16:creationId xmlns:a16="http://schemas.microsoft.com/office/drawing/2014/main" id="{ECA50156-51AC-77BF-F64F-81B8CFD1C3D2}"/>
              </a:ext>
            </a:extLst>
          </p:cNvPr>
          <p:cNvSpPr/>
          <p:nvPr/>
        </p:nvSpPr>
        <p:spPr>
          <a:xfrm>
            <a:off x="6438159" y="2291323"/>
            <a:ext cx="1048924" cy="175428"/>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34" name="Straight Connector 33">
            <a:extLst>
              <a:ext uri="{FF2B5EF4-FFF2-40B4-BE49-F238E27FC236}">
                <a16:creationId xmlns:a16="http://schemas.microsoft.com/office/drawing/2014/main" id="{DF15EC63-F027-E763-A28A-F38192AFDE0A}"/>
              </a:ext>
            </a:extLst>
          </p:cNvPr>
          <p:cNvCxnSpPr>
            <a:cxnSpLocks/>
            <a:stCxn id="33" idx="3"/>
            <a:endCxn id="35" idx="1"/>
          </p:cNvCxnSpPr>
          <p:nvPr/>
        </p:nvCxnSpPr>
        <p:spPr>
          <a:xfrm flipV="1">
            <a:off x="7487083" y="1893068"/>
            <a:ext cx="1863175" cy="485969"/>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4ACBBC4E-849A-83ED-E2C7-123693B23E38}"/>
              </a:ext>
            </a:extLst>
          </p:cNvPr>
          <p:cNvSpPr txBox="1"/>
          <p:nvPr/>
        </p:nvSpPr>
        <p:spPr>
          <a:xfrm>
            <a:off x="9350258" y="1108238"/>
            <a:ext cx="2207545" cy="1569660"/>
          </a:xfrm>
          <a:prstGeom prst="rect">
            <a:avLst/>
          </a:prstGeom>
          <a:noFill/>
          <a:ln w="12700">
            <a:solidFill>
              <a:srgbClr val="FF0000"/>
            </a:solidFill>
          </a:ln>
        </p:spPr>
        <p:txBody>
          <a:bodyPr wrap="square" rtlCol="0">
            <a:spAutoFit/>
          </a:bodyPr>
          <a:lstStyle/>
          <a:p>
            <a:r>
              <a:rPr lang="it-IT" sz="1200" dirty="0"/>
              <a:t>It is recommended to use the BV fast mean curvature computation. This is an approximation of the mean curvature which is intrinsecally smoother so it avoids the need for additional mesh preprocessing steps.</a:t>
            </a:r>
            <a:endParaRPr lang="en-NL" sz="1200" dirty="0"/>
          </a:p>
        </p:txBody>
      </p:sp>
      <p:sp>
        <p:nvSpPr>
          <p:cNvPr id="44" name="Rectangle 43">
            <a:extLst>
              <a:ext uri="{FF2B5EF4-FFF2-40B4-BE49-F238E27FC236}">
                <a16:creationId xmlns:a16="http://schemas.microsoft.com/office/drawing/2014/main" id="{E793BA38-7147-31F6-1959-4A8A999373D7}"/>
              </a:ext>
            </a:extLst>
          </p:cNvPr>
          <p:cNvSpPr/>
          <p:nvPr/>
        </p:nvSpPr>
        <p:spPr>
          <a:xfrm>
            <a:off x="6438159" y="3029241"/>
            <a:ext cx="1915198" cy="494464"/>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45" name="Straight Connector 44">
            <a:extLst>
              <a:ext uri="{FF2B5EF4-FFF2-40B4-BE49-F238E27FC236}">
                <a16:creationId xmlns:a16="http://schemas.microsoft.com/office/drawing/2014/main" id="{F0E5F403-DEBC-009C-63B9-8720D4E10B1B}"/>
              </a:ext>
            </a:extLst>
          </p:cNvPr>
          <p:cNvCxnSpPr>
            <a:cxnSpLocks/>
            <a:stCxn id="44" idx="3"/>
            <a:endCxn id="46" idx="1"/>
          </p:cNvCxnSpPr>
          <p:nvPr/>
        </p:nvCxnSpPr>
        <p:spPr>
          <a:xfrm>
            <a:off x="8353357" y="3276473"/>
            <a:ext cx="985523" cy="649605"/>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88575789-6BD7-5F6D-3878-AD44DFE266AB}"/>
              </a:ext>
            </a:extLst>
          </p:cNvPr>
          <p:cNvSpPr txBox="1"/>
          <p:nvPr/>
        </p:nvSpPr>
        <p:spPr>
          <a:xfrm>
            <a:off x="9338880" y="3048915"/>
            <a:ext cx="2207545" cy="1754326"/>
          </a:xfrm>
          <a:prstGeom prst="rect">
            <a:avLst/>
          </a:prstGeom>
          <a:noFill/>
          <a:ln w="12700">
            <a:solidFill>
              <a:srgbClr val="FF0000"/>
            </a:solidFill>
          </a:ln>
        </p:spPr>
        <p:txBody>
          <a:bodyPr wrap="square" rtlCol="0">
            <a:spAutoFit/>
          </a:bodyPr>
          <a:lstStyle/>
          <a:p>
            <a:r>
              <a:rPr lang="it-IT" sz="1200" dirty="0"/>
              <a:t>These are the algorithm options. Default settings should work fine. The user will be asked to decide whether to use the define number of probe neighbors to perform probe recovery or whether to use all available neighbors (recommended).</a:t>
            </a:r>
            <a:endParaRPr lang="en-NL" sz="1200" dirty="0"/>
          </a:p>
        </p:txBody>
      </p:sp>
      <p:sp>
        <p:nvSpPr>
          <p:cNvPr id="50" name="Rectangle 49">
            <a:extLst>
              <a:ext uri="{FF2B5EF4-FFF2-40B4-BE49-F238E27FC236}">
                <a16:creationId xmlns:a16="http://schemas.microsoft.com/office/drawing/2014/main" id="{5E9A6FF1-16E5-F1A2-D08E-78A0120DFF74}"/>
              </a:ext>
            </a:extLst>
          </p:cNvPr>
          <p:cNvSpPr/>
          <p:nvPr/>
        </p:nvSpPr>
        <p:spPr>
          <a:xfrm>
            <a:off x="6463292" y="4173908"/>
            <a:ext cx="1890064" cy="129857"/>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51" name="Straight Connector 50">
            <a:extLst>
              <a:ext uri="{FF2B5EF4-FFF2-40B4-BE49-F238E27FC236}">
                <a16:creationId xmlns:a16="http://schemas.microsoft.com/office/drawing/2014/main" id="{2B8A571E-A9B1-B95E-B2CC-029AA11C2BAA}"/>
              </a:ext>
            </a:extLst>
          </p:cNvPr>
          <p:cNvCxnSpPr>
            <a:cxnSpLocks/>
            <a:stCxn id="50" idx="1"/>
            <a:endCxn id="52" idx="3"/>
          </p:cNvCxnSpPr>
          <p:nvPr/>
        </p:nvCxnSpPr>
        <p:spPr>
          <a:xfrm flipH="1">
            <a:off x="2838841" y="4238837"/>
            <a:ext cx="3624451" cy="625857"/>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B5232AD4-D45D-087B-BBC4-D9BA51CAC7F0}"/>
              </a:ext>
            </a:extLst>
          </p:cNvPr>
          <p:cNvSpPr txBox="1"/>
          <p:nvPr/>
        </p:nvSpPr>
        <p:spPr>
          <a:xfrm>
            <a:off x="643900" y="4541528"/>
            <a:ext cx="2194941" cy="646331"/>
          </a:xfrm>
          <a:prstGeom prst="rect">
            <a:avLst/>
          </a:prstGeom>
          <a:noFill/>
          <a:ln w="12700">
            <a:solidFill>
              <a:srgbClr val="FF0000"/>
            </a:solidFill>
          </a:ln>
        </p:spPr>
        <p:txBody>
          <a:bodyPr wrap="square" rtlCol="0">
            <a:spAutoFit/>
          </a:bodyPr>
          <a:lstStyle/>
          <a:p>
            <a:r>
              <a:rPr lang="it-IT" sz="1200" dirty="0"/>
              <a:t>Call for the manual labelling GUI (can be used asynchronousy from the rest of the pipeline).</a:t>
            </a:r>
            <a:endParaRPr lang="en-NL" sz="1200" dirty="0"/>
          </a:p>
        </p:txBody>
      </p:sp>
      <p:sp>
        <p:nvSpPr>
          <p:cNvPr id="60" name="Rectangle 59">
            <a:extLst>
              <a:ext uri="{FF2B5EF4-FFF2-40B4-BE49-F238E27FC236}">
                <a16:creationId xmlns:a16="http://schemas.microsoft.com/office/drawing/2014/main" id="{478ACD4D-7B70-8A20-78D3-76E8C26B5F22}"/>
              </a:ext>
            </a:extLst>
          </p:cNvPr>
          <p:cNvSpPr/>
          <p:nvPr/>
        </p:nvSpPr>
        <p:spPr>
          <a:xfrm>
            <a:off x="6463292" y="4336019"/>
            <a:ext cx="1890064" cy="129600"/>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61" name="Straight Connector 60">
            <a:extLst>
              <a:ext uri="{FF2B5EF4-FFF2-40B4-BE49-F238E27FC236}">
                <a16:creationId xmlns:a16="http://schemas.microsoft.com/office/drawing/2014/main" id="{CF7CA42C-4580-7484-8B39-D098A33FAF23}"/>
              </a:ext>
            </a:extLst>
          </p:cNvPr>
          <p:cNvCxnSpPr>
            <a:cxnSpLocks/>
            <a:stCxn id="60" idx="3"/>
            <a:endCxn id="62" idx="1"/>
          </p:cNvCxnSpPr>
          <p:nvPr/>
        </p:nvCxnSpPr>
        <p:spPr>
          <a:xfrm>
            <a:off x="8353356" y="4400819"/>
            <a:ext cx="985523" cy="1281271"/>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38829122-F718-5F91-CF03-D5A841C9A595}"/>
              </a:ext>
            </a:extLst>
          </p:cNvPr>
          <p:cNvSpPr txBox="1"/>
          <p:nvPr/>
        </p:nvSpPr>
        <p:spPr>
          <a:xfrm>
            <a:off x="9338879" y="5174258"/>
            <a:ext cx="2207545" cy="1015663"/>
          </a:xfrm>
          <a:prstGeom prst="rect">
            <a:avLst/>
          </a:prstGeom>
          <a:noFill/>
          <a:ln w="12700">
            <a:solidFill>
              <a:srgbClr val="FF0000"/>
            </a:solidFill>
          </a:ln>
        </p:spPr>
        <p:txBody>
          <a:bodyPr wrap="square" rtlCol="0">
            <a:spAutoFit/>
          </a:bodyPr>
          <a:lstStyle/>
          <a:p>
            <a:r>
              <a:rPr lang="it-IT" sz="1200" dirty="0"/>
              <a:t>Call to perform matched ICP between MNI probes (from .snirf file) and selected .probej file (can be used asynchronousy from the rest of the pipeline). </a:t>
            </a:r>
            <a:endParaRPr lang="en-NL" sz="1200" dirty="0"/>
          </a:p>
        </p:txBody>
      </p:sp>
    </p:spTree>
    <p:extLst>
      <p:ext uri="{BB962C8B-B14F-4D97-AF65-F5344CB8AC3E}">
        <p14:creationId xmlns:p14="http://schemas.microsoft.com/office/powerpoint/2010/main" val="9404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DE5943-57E3-12A7-8FC3-557AA9679293}"/>
              </a:ext>
            </a:extLst>
          </p:cNvPr>
          <p:cNvSpPr txBox="1"/>
          <p:nvPr/>
        </p:nvSpPr>
        <p:spPr>
          <a:xfrm>
            <a:off x="405637" y="268133"/>
            <a:ext cx="9013371" cy="954107"/>
          </a:xfrm>
          <a:prstGeom prst="rect">
            <a:avLst/>
          </a:prstGeom>
          <a:noFill/>
        </p:spPr>
        <p:txBody>
          <a:bodyPr wrap="square" rtlCol="0">
            <a:spAutoFit/>
          </a:bodyPr>
          <a:lstStyle/>
          <a:p>
            <a:r>
              <a:rPr lang="en-GB" b="1" dirty="0"/>
              <a:t>Primary route: detected points → ICP-to-MNI assign labels  → recover missing probes. </a:t>
            </a:r>
          </a:p>
          <a:p>
            <a:endParaRPr lang="en-GB" b="1" dirty="0"/>
          </a:p>
          <a:p>
            <a:endParaRPr lang="en-NL" dirty="0"/>
          </a:p>
        </p:txBody>
      </p:sp>
      <p:pic>
        <p:nvPicPr>
          <p:cNvPr id="7" name="Picture 6">
            <a:extLst>
              <a:ext uri="{FF2B5EF4-FFF2-40B4-BE49-F238E27FC236}">
                <a16:creationId xmlns:a16="http://schemas.microsoft.com/office/drawing/2014/main" id="{F0D1CDBC-59D0-6AE1-BAF7-3841AF275425}"/>
              </a:ext>
            </a:extLst>
          </p:cNvPr>
          <p:cNvPicPr>
            <a:picLocks noChangeAspect="1"/>
          </p:cNvPicPr>
          <p:nvPr/>
        </p:nvPicPr>
        <p:blipFill>
          <a:blip r:embed="rId2"/>
          <a:stretch>
            <a:fillRect/>
          </a:stretch>
        </p:blipFill>
        <p:spPr>
          <a:xfrm>
            <a:off x="248230" y="780587"/>
            <a:ext cx="3904559" cy="4029283"/>
          </a:xfrm>
          <a:prstGeom prst="rect">
            <a:avLst/>
          </a:prstGeom>
        </p:spPr>
      </p:pic>
      <p:pic>
        <p:nvPicPr>
          <p:cNvPr id="9" name="Picture 8">
            <a:extLst>
              <a:ext uri="{FF2B5EF4-FFF2-40B4-BE49-F238E27FC236}">
                <a16:creationId xmlns:a16="http://schemas.microsoft.com/office/drawing/2014/main" id="{4337060D-73FE-81EF-9330-92D359597D54}"/>
              </a:ext>
            </a:extLst>
          </p:cNvPr>
          <p:cNvPicPr>
            <a:picLocks noChangeAspect="1"/>
          </p:cNvPicPr>
          <p:nvPr/>
        </p:nvPicPr>
        <p:blipFill>
          <a:blip r:embed="rId3"/>
          <a:stretch>
            <a:fillRect/>
          </a:stretch>
        </p:blipFill>
        <p:spPr>
          <a:xfrm>
            <a:off x="4192107" y="780586"/>
            <a:ext cx="3904558" cy="4029283"/>
          </a:xfrm>
          <a:prstGeom prst="rect">
            <a:avLst/>
          </a:prstGeom>
        </p:spPr>
      </p:pic>
      <p:pic>
        <p:nvPicPr>
          <p:cNvPr id="13" name="Picture 12">
            <a:extLst>
              <a:ext uri="{FF2B5EF4-FFF2-40B4-BE49-F238E27FC236}">
                <a16:creationId xmlns:a16="http://schemas.microsoft.com/office/drawing/2014/main" id="{003A20AC-33E4-574D-BB76-6F5F90B07706}"/>
              </a:ext>
            </a:extLst>
          </p:cNvPr>
          <p:cNvPicPr>
            <a:picLocks noChangeAspect="1"/>
          </p:cNvPicPr>
          <p:nvPr/>
        </p:nvPicPr>
        <p:blipFill>
          <a:blip r:embed="rId4"/>
          <a:stretch>
            <a:fillRect/>
          </a:stretch>
        </p:blipFill>
        <p:spPr>
          <a:xfrm>
            <a:off x="8135983" y="780585"/>
            <a:ext cx="3904559" cy="4029284"/>
          </a:xfrm>
          <a:prstGeom prst="rect">
            <a:avLst/>
          </a:prstGeom>
        </p:spPr>
      </p:pic>
      <p:pic>
        <p:nvPicPr>
          <p:cNvPr id="15" name="Picture 14">
            <a:extLst>
              <a:ext uri="{FF2B5EF4-FFF2-40B4-BE49-F238E27FC236}">
                <a16:creationId xmlns:a16="http://schemas.microsoft.com/office/drawing/2014/main" id="{9F18AE61-AD18-918E-02BF-0E6F3786D70E}"/>
              </a:ext>
            </a:extLst>
          </p:cNvPr>
          <p:cNvPicPr>
            <a:picLocks noChangeAspect="1"/>
          </p:cNvPicPr>
          <p:nvPr/>
        </p:nvPicPr>
        <p:blipFill>
          <a:blip r:embed="rId5"/>
          <a:stretch>
            <a:fillRect/>
          </a:stretch>
        </p:blipFill>
        <p:spPr>
          <a:xfrm>
            <a:off x="928744" y="5127575"/>
            <a:ext cx="2543530" cy="1352739"/>
          </a:xfrm>
          <a:prstGeom prst="rect">
            <a:avLst/>
          </a:prstGeom>
        </p:spPr>
      </p:pic>
      <p:pic>
        <p:nvPicPr>
          <p:cNvPr id="17" name="Picture 16">
            <a:extLst>
              <a:ext uri="{FF2B5EF4-FFF2-40B4-BE49-F238E27FC236}">
                <a16:creationId xmlns:a16="http://schemas.microsoft.com/office/drawing/2014/main" id="{0248B189-3A01-8495-E004-106B4098E304}"/>
              </a:ext>
            </a:extLst>
          </p:cNvPr>
          <p:cNvPicPr>
            <a:picLocks noChangeAspect="1"/>
          </p:cNvPicPr>
          <p:nvPr/>
        </p:nvPicPr>
        <p:blipFill>
          <a:blip r:embed="rId6"/>
          <a:stretch>
            <a:fillRect/>
          </a:stretch>
        </p:blipFill>
        <p:spPr>
          <a:xfrm>
            <a:off x="4682094" y="5018023"/>
            <a:ext cx="2924583" cy="1571844"/>
          </a:xfrm>
          <a:prstGeom prst="rect">
            <a:avLst/>
          </a:prstGeom>
        </p:spPr>
      </p:pic>
      <p:pic>
        <p:nvPicPr>
          <p:cNvPr id="19" name="Picture 18">
            <a:extLst>
              <a:ext uri="{FF2B5EF4-FFF2-40B4-BE49-F238E27FC236}">
                <a16:creationId xmlns:a16="http://schemas.microsoft.com/office/drawing/2014/main" id="{4582AC81-4FDB-35CA-8B0D-0E026E2E8CDD}"/>
              </a:ext>
            </a:extLst>
          </p:cNvPr>
          <p:cNvPicPr>
            <a:picLocks noChangeAspect="1"/>
          </p:cNvPicPr>
          <p:nvPr/>
        </p:nvPicPr>
        <p:blipFill>
          <a:blip r:embed="rId7"/>
          <a:stretch>
            <a:fillRect/>
          </a:stretch>
        </p:blipFill>
        <p:spPr>
          <a:xfrm>
            <a:off x="8707467" y="5291442"/>
            <a:ext cx="2962688" cy="1076475"/>
          </a:xfrm>
          <a:prstGeom prst="rect">
            <a:avLst/>
          </a:prstGeom>
        </p:spPr>
      </p:pic>
      <p:pic>
        <p:nvPicPr>
          <p:cNvPr id="11" name="Picture 10">
            <a:extLst>
              <a:ext uri="{FF2B5EF4-FFF2-40B4-BE49-F238E27FC236}">
                <a16:creationId xmlns:a16="http://schemas.microsoft.com/office/drawing/2014/main" id="{7F924FE5-CDC1-A36F-DCB7-53AC4DD10923}"/>
              </a:ext>
            </a:extLst>
          </p:cNvPr>
          <p:cNvPicPr>
            <a:picLocks noChangeAspect="1"/>
          </p:cNvPicPr>
          <p:nvPr/>
        </p:nvPicPr>
        <p:blipFill>
          <a:blip r:embed="rId8"/>
          <a:stretch>
            <a:fillRect/>
          </a:stretch>
        </p:blipFill>
        <p:spPr>
          <a:xfrm>
            <a:off x="8764859" y="923260"/>
            <a:ext cx="2847905" cy="872086"/>
          </a:xfrm>
          <a:prstGeom prst="rect">
            <a:avLst/>
          </a:prstGeom>
        </p:spPr>
      </p:pic>
      <p:sp>
        <p:nvSpPr>
          <p:cNvPr id="20" name="Rectangle 19">
            <a:extLst>
              <a:ext uri="{FF2B5EF4-FFF2-40B4-BE49-F238E27FC236}">
                <a16:creationId xmlns:a16="http://schemas.microsoft.com/office/drawing/2014/main" id="{7C02762E-1B63-F998-C9F1-9AD34F945C82}"/>
              </a:ext>
            </a:extLst>
          </p:cNvPr>
          <p:cNvSpPr/>
          <p:nvPr/>
        </p:nvSpPr>
        <p:spPr>
          <a:xfrm>
            <a:off x="2506426" y="2835199"/>
            <a:ext cx="1553736" cy="129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22" name="Rectangle 21">
            <a:extLst>
              <a:ext uri="{FF2B5EF4-FFF2-40B4-BE49-F238E27FC236}">
                <a16:creationId xmlns:a16="http://schemas.microsoft.com/office/drawing/2014/main" id="{576FB55B-0D22-2B5A-AFCE-A7C0A1D0175A}"/>
              </a:ext>
            </a:extLst>
          </p:cNvPr>
          <p:cNvSpPr/>
          <p:nvPr/>
        </p:nvSpPr>
        <p:spPr>
          <a:xfrm>
            <a:off x="6453554" y="3092437"/>
            <a:ext cx="1553736" cy="129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26" name="Rectangle 25">
            <a:extLst>
              <a:ext uri="{FF2B5EF4-FFF2-40B4-BE49-F238E27FC236}">
                <a16:creationId xmlns:a16="http://schemas.microsoft.com/office/drawing/2014/main" id="{F3057242-5814-E133-5DA9-596A8A5962BC}"/>
              </a:ext>
            </a:extLst>
          </p:cNvPr>
          <p:cNvSpPr/>
          <p:nvPr/>
        </p:nvSpPr>
        <p:spPr>
          <a:xfrm>
            <a:off x="10403784" y="3478594"/>
            <a:ext cx="1553736" cy="129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28" name="Rectangle 27">
            <a:extLst>
              <a:ext uri="{FF2B5EF4-FFF2-40B4-BE49-F238E27FC236}">
                <a16:creationId xmlns:a16="http://schemas.microsoft.com/office/drawing/2014/main" id="{B0299522-CF16-FB42-722C-54B0E08E3ABB}"/>
              </a:ext>
            </a:extLst>
          </p:cNvPr>
          <p:cNvSpPr/>
          <p:nvPr/>
        </p:nvSpPr>
        <p:spPr>
          <a:xfrm>
            <a:off x="10549309" y="1548705"/>
            <a:ext cx="554119" cy="22003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29" name="TextBox 28">
            <a:extLst>
              <a:ext uri="{FF2B5EF4-FFF2-40B4-BE49-F238E27FC236}">
                <a16:creationId xmlns:a16="http://schemas.microsoft.com/office/drawing/2014/main" id="{DE469672-B5F8-68F6-1B43-D5F41A94400A}"/>
              </a:ext>
            </a:extLst>
          </p:cNvPr>
          <p:cNvSpPr txBox="1"/>
          <p:nvPr/>
        </p:nvSpPr>
        <p:spPr>
          <a:xfrm>
            <a:off x="277550" y="1610680"/>
            <a:ext cx="301686" cy="369332"/>
          </a:xfrm>
          <a:prstGeom prst="rect">
            <a:avLst/>
          </a:prstGeom>
          <a:noFill/>
        </p:spPr>
        <p:txBody>
          <a:bodyPr wrap="none" rtlCol="0">
            <a:spAutoFit/>
          </a:bodyPr>
          <a:lstStyle/>
          <a:p>
            <a:r>
              <a:rPr lang="it-IT" dirty="0">
                <a:solidFill>
                  <a:schemeClr val="bg1"/>
                </a:solidFill>
              </a:rPr>
              <a:t>1</a:t>
            </a:r>
            <a:endParaRPr lang="en-NL" dirty="0">
              <a:solidFill>
                <a:schemeClr val="bg1"/>
              </a:solidFill>
            </a:endParaRPr>
          </a:p>
        </p:txBody>
      </p:sp>
      <p:sp>
        <p:nvSpPr>
          <p:cNvPr id="31" name="TextBox 30">
            <a:extLst>
              <a:ext uri="{FF2B5EF4-FFF2-40B4-BE49-F238E27FC236}">
                <a16:creationId xmlns:a16="http://schemas.microsoft.com/office/drawing/2014/main" id="{6E8DABB2-742D-6670-8DC4-95C4606FF0EB}"/>
              </a:ext>
            </a:extLst>
          </p:cNvPr>
          <p:cNvSpPr txBox="1"/>
          <p:nvPr/>
        </p:nvSpPr>
        <p:spPr>
          <a:xfrm>
            <a:off x="4215835" y="1610680"/>
            <a:ext cx="301686" cy="369332"/>
          </a:xfrm>
          <a:prstGeom prst="rect">
            <a:avLst/>
          </a:prstGeom>
          <a:noFill/>
        </p:spPr>
        <p:txBody>
          <a:bodyPr wrap="none" rtlCol="0">
            <a:spAutoFit/>
          </a:bodyPr>
          <a:lstStyle/>
          <a:p>
            <a:r>
              <a:rPr lang="it-IT" dirty="0">
                <a:solidFill>
                  <a:schemeClr val="bg1"/>
                </a:solidFill>
              </a:rPr>
              <a:t>2</a:t>
            </a:r>
            <a:endParaRPr lang="en-NL" dirty="0">
              <a:solidFill>
                <a:schemeClr val="bg1"/>
              </a:solidFill>
            </a:endParaRPr>
          </a:p>
        </p:txBody>
      </p:sp>
      <p:sp>
        <p:nvSpPr>
          <p:cNvPr id="33" name="TextBox 32">
            <a:extLst>
              <a:ext uri="{FF2B5EF4-FFF2-40B4-BE49-F238E27FC236}">
                <a16:creationId xmlns:a16="http://schemas.microsoft.com/office/drawing/2014/main" id="{91BCB916-243F-48AF-3C66-A900C27DFFF9}"/>
              </a:ext>
            </a:extLst>
          </p:cNvPr>
          <p:cNvSpPr txBox="1"/>
          <p:nvPr/>
        </p:nvSpPr>
        <p:spPr>
          <a:xfrm>
            <a:off x="8200490" y="1584072"/>
            <a:ext cx="301686" cy="369332"/>
          </a:xfrm>
          <a:prstGeom prst="rect">
            <a:avLst/>
          </a:prstGeom>
          <a:noFill/>
        </p:spPr>
        <p:txBody>
          <a:bodyPr wrap="none" rtlCol="0">
            <a:spAutoFit/>
          </a:bodyPr>
          <a:lstStyle/>
          <a:p>
            <a:r>
              <a:rPr lang="it-IT" dirty="0">
                <a:solidFill>
                  <a:schemeClr val="bg1"/>
                </a:solidFill>
              </a:rPr>
              <a:t>3</a:t>
            </a:r>
            <a:endParaRPr lang="en-NL" dirty="0">
              <a:solidFill>
                <a:schemeClr val="bg1"/>
              </a:solidFill>
            </a:endParaRPr>
          </a:p>
        </p:txBody>
      </p:sp>
      <p:sp>
        <p:nvSpPr>
          <p:cNvPr id="34" name="TextBox 33">
            <a:extLst>
              <a:ext uri="{FF2B5EF4-FFF2-40B4-BE49-F238E27FC236}">
                <a16:creationId xmlns:a16="http://schemas.microsoft.com/office/drawing/2014/main" id="{0374FB7B-9A9E-B611-36EE-B3FE27EA965E}"/>
              </a:ext>
            </a:extLst>
          </p:cNvPr>
          <p:cNvSpPr txBox="1"/>
          <p:nvPr/>
        </p:nvSpPr>
        <p:spPr>
          <a:xfrm rot="16200000">
            <a:off x="-75341" y="5619278"/>
            <a:ext cx="1079591" cy="369332"/>
          </a:xfrm>
          <a:prstGeom prst="rect">
            <a:avLst/>
          </a:prstGeom>
          <a:noFill/>
        </p:spPr>
        <p:txBody>
          <a:bodyPr wrap="none" rtlCol="0">
            <a:spAutoFit/>
          </a:bodyPr>
          <a:lstStyle/>
          <a:p>
            <a:r>
              <a:rPr lang="it-IT" dirty="0"/>
              <a:t>OUTPUTS</a:t>
            </a:r>
            <a:endParaRPr lang="en-NL" dirty="0"/>
          </a:p>
        </p:txBody>
      </p:sp>
    </p:spTree>
    <p:extLst>
      <p:ext uri="{BB962C8B-B14F-4D97-AF65-F5344CB8AC3E}">
        <p14:creationId xmlns:p14="http://schemas.microsoft.com/office/powerpoint/2010/main" val="2462834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445A343-A54F-D8D1-BDEC-51F89EF43CF0}"/>
              </a:ext>
            </a:extLst>
          </p:cNvPr>
          <p:cNvPicPr>
            <a:picLocks noChangeAspect="1"/>
          </p:cNvPicPr>
          <p:nvPr/>
        </p:nvPicPr>
        <p:blipFill>
          <a:blip r:embed="rId2"/>
          <a:stretch>
            <a:fillRect/>
          </a:stretch>
        </p:blipFill>
        <p:spPr>
          <a:xfrm>
            <a:off x="570640" y="1784194"/>
            <a:ext cx="3463701" cy="3829314"/>
          </a:xfrm>
          <a:prstGeom prst="rect">
            <a:avLst/>
          </a:prstGeom>
        </p:spPr>
      </p:pic>
      <p:sp>
        <p:nvSpPr>
          <p:cNvPr id="3" name="TextBox 2">
            <a:extLst>
              <a:ext uri="{FF2B5EF4-FFF2-40B4-BE49-F238E27FC236}">
                <a16:creationId xmlns:a16="http://schemas.microsoft.com/office/drawing/2014/main" id="{259C2F43-3A5F-DCE7-6FAB-E0004EF93C72}"/>
              </a:ext>
            </a:extLst>
          </p:cNvPr>
          <p:cNvSpPr txBox="1"/>
          <p:nvPr/>
        </p:nvSpPr>
        <p:spPr>
          <a:xfrm>
            <a:off x="405637" y="268133"/>
            <a:ext cx="11215723" cy="1477328"/>
          </a:xfrm>
          <a:prstGeom prst="rect">
            <a:avLst/>
          </a:prstGeom>
          <a:noFill/>
        </p:spPr>
        <p:txBody>
          <a:bodyPr wrap="square" rtlCol="0">
            <a:spAutoFit/>
          </a:bodyPr>
          <a:lstStyle/>
          <a:p>
            <a:r>
              <a:rPr lang="en-GB" b="1" dirty="0"/>
              <a:t> If labels are wrong: delete false detections and retry.</a:t>
            </a:r>
          </a:p>
          <a:p>
            <a:endParaRPr lang="en-GB" b="1" dirty="0"/>
          </a:p>
          <a:p>
            <a:r>
              <a:rPr lang="en-GB" dirty="0"/>
              <a:t>If after running step 1 and 2 as previously described the label assignment is wrong. Run step 1 again, identify problematic points and delete them. Then, continue with step 2 and 3 as before.</a:t>
            </a:r>
          </a:p>
          <a:p>
            <a:endParaRPr lang="en-NL" dirty="0"/>
          </a:p>
        </p:txBody>
      </p:sp>
      <p:sp>
        <p:nvSpPr>
          <p:cNvPr id="6" name="Rectangle 5">
            <a:extLst>
              <a:ext uri="{FF2B5EF4-FFF2-40B4-BE49-F238E27FC236}">
                <a16:creationId xmlns:a16="http://schemas.microsoft.com/office/drawing/2014/main" id="{D70F5033-E7E2-6F30-AD59-AD88BEF33FBD}"/>
              </a:ext>
            </a:extLst>
          </p:cNvPr>
          <p:cNvSpPr/>
          <p:nvPr/>
        </p:nvSpPr>
        <p:spPr>
          <a:xfrm>
            <a:off x="845648" y="2908205"/>
            <a:ext cx="1120656" cy="1581293"/>
          </a:xfrm>
          <a:prstGeom prst="rect">
            <a:avLst/>
          </a:prstGeom>
          <a:no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D10981FE-B686-2B19-34D4-8148DB664150}"/>
              </a:ext>
            </a:extLst>
          </p:cNvPr>
          <p:cNvSpPr txBox="1"/>
          <p:nvPr/>
        </p:nvSpPr>
        <p:spPr>
          <a:xfrm>
            <a:off x="805284" y="2651350"/>
            <a:ext cx="934871" cy="261610"/>
          </a:xfrm>
          <a:prstGeom prst="rect">
            <a:avLst/>
          </a:prstGeom>
          <a:noFill/>
        </p:spPr>
        <p:txBody>
          <a:bodyPr wrap="none" rtlCol="0">
            <a:spAutoFit/>
          </a:bodyPr>
          <a:lstStyle/>
          <a:p>
            <a:r>
              <a:rPr lang="it-IT" sz="1100" dirty="0">
                <a:solidFill>
                  <a:schemeClr val="bg1"/>
                </a:solidFill>
              </a:rPr>
              <a:t>Wrong labels</a:t>
            </a:r>
            <a:endParaRPr lang="en-NL" sz="1100" dirty="0">
              <a:solidFill>
                <a:schemeClr val="bg1"/>
              </a:solidFill>
            </a:endParaRPr>
          </a:p>
        </p:txBody>
      </p:sp>
      <p:sp>
        <p:nvSpPr>
          <p:cNvPr id="8" name="Oval 7">
            <a:extLst>
              <a:ext uri="{FF2B5EF4-FFF2-40B4-BE49-F238E27FC236}">
                <a16:creationId xmlns:a16="http://schemas.microsoft.com/office/drawing/2014/main" id="{4DAE47DF-84EB-6918-A0B6-A0673A709361}"/>
              </a:ext>
            </a:extLst>
          </p:cNvPr>
          <p:cNvSpPr/>
          <p:nvPr/>
        </p:nvSpPr>
        <p:spPr>
          <a:xfrm>
            <a:off x="1223783" y="3290670"/>
            <a:ext cx="385743" cy="336884"/>
          </a:xfrm>
          <a:prstGeom prst="ellipse">
            <a:avLst/>
          </a:prstGeom>
          <a:no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9" name="TextBox 8">
            <a:extLst>
              <a:ext uri="{FF2B5EF4-FFF2-40B4-BE49-F238E27FC236}">
                <a16:creationId xmlns:a16="http://schemas.microsoft.com/office/drawing/2014/main" id="{5B09EA45-89D5-EF27-491E-C289DE346085}"/>
              </a:ext>
            </a:extLst>
          </p:cNvPr>
          <p:cNvSpPr txBox="1"/>
          <p:nvPr/>
        </p:nvSpPr>
        <p:spPr>
          <a:xfrm>
            <a:off x="1176389" y="3616194"/>
            <a:ext cx="1205779" cy="261610"/>
          </a:xfrm>
          <a:prstGeom prst="rect">
            <a:avLst/>
          </a:prstGeom>
          <a:noFill/>
        </p:spPr>
        <p:txBody>
          <a:bodyPr wrap="none" rtlCol="0">
            <a:spAutoFit/>
          </a:bodyPr>
          <a:lstStyle/>
          <a:p>
            <a:r>
              <a:rPr lang="it-IT" sz="1050" dirty="0">
                <a:solidFill>
                  <a:srgbClr val="FFFF00"/>
                </a:solidFill>
              </a:rPr>
              <a:t>Problematic point</a:t>
            </a:r>
            <a:endParaRPr lang="en-NL" sz="1050" dirty="0">
              <a:solidFill>
                <a:srgbClr val="FFFF00"/>
              </a:solidFill>
            </a:endParaRPr>
          </a:p>
        </p:txBody>
      </p:sp>
      <p:pic>
        <p:nvPicPr>
          <p:cNvPr id="17" name="Picture 16">
            <a:extLst>
              <a:ext uri="{FF2B5EF4-FFF2-40B4-BE49-F238E27FC236}">
                <a16:creationId xmlns:a16="http://schemas.microsoft.com/office/drawing/2014/main" id="{C5902870-FD11-227B-D35B-86907887E31E}"/>
              </a:ext>
            </a:extLst>
          </p:cNvPr>
          <p:cNvPicPr>
            <a:picLocks noChangeAspect="1"/>
          </p:cNvPicPr>
          <p:nvPr/>
        </p:nvPicPr>
        <p:blipFill>
          <a:blip r:embed="rId3"/>
          <a:stretch>
            <a:fillRect/>
          </a:stretch>
        </p:blipFill>
        <p:spPr>
          <a:xfrm>
            <a:off x="4412477" y="1784195"/>
            <a:ext cx="3463701" cy="3829314"/>
          </a:xfrm>
          <a:prstGeom prst="rect">
            <a:avLst/>
          </a:prstGeom>
        </p:spPr>
      </p:pic>
      <p:pic>
        <p:nvPicPr>
          <p:cNvPr id="19" name="Picture 18">
            <a:extLst>
              <a:ext uri="{FF2B5EF4-FFF2-40B4-BE49-F238E27FC236}">
                <a16:creationId xmlns:a16="http://schemas.microsoft.com/office/drawing/2014/main" id="{F01DECD8-A965-ADE7-414D-D87FEF1C0589}"/>
              </a:ext>
            </a:extLst>
          </p:cNvPr>
          <p:cNvPicPr>
            <a:picLocks noChangeAspect="1"/>
          </p:cNvPicPr>
          <p:nvPr/>
        </p:nvPicPr>
        <p:blipFill>
          <a:blip r:embed="rId4"/>
          <a:stretch>
            <a:fillRect/>
          </a:stretch>
        </p:blipFill>
        <p:spPr>
          <a:xfrm>
            <a:off x="5137436" y="5939591"/>
            <a:ext cx="2219635" cy="504895"/>
          </a:xfrm>
          <a:prstGeom prst="rect">
            <a:avLst/>
          </a:prstGeom>
        </p:spPr>
      </p:pic>
      <p:pic>
        <p:nvPicPr>
          <p:cNvPr id="21" name="Picture 20">
            <a:extLst>
              <a:ext uri="{FF2B5EF4-FFF2-40B4-BE49-F238E27FC236}">
                <a16:creationId xmlns:a16="http://schemas.microsoft.com/office/drawing/2014/main" id="{73780CA9-E8FC-1458-7505-D67928932B15}"/>
              </a:ext>
            </a:extLst>
          </p:cNvPr>
          <p:cNvPicPr>
            <a:picLocks noChangeAspect="1"/>
          </p:cNvPicPr>
          <p:nvPr/>
        </p:nvPicPr>
        <p:blipFill>
          <a:blip r:embed="rId5"/>
          <a:stretch>
            <a:fillRect/>
          </a:stretch>
        </p:blipFill>
        <p:spPr>
          <a:xfrm>
            <a:off x="8254314" y="1784195"/>
            <a:ext cx="3463701" cy="3829314"/>
          </a:xfrm>
          <a:prstGeom prst="rect">
            <a:avLst/>
          </a:prstGeom>
        </p:spPr>
      </p:pic>
      <p:sp>
        <p:nvSpPr>
          <p:cNvPr id="23" name="Rectangle 22">
            <a:extLst>
              <a:ext uri="{FF2B5EF4-FFF2-40B4-BE49-F238E27FC236}">
                <a16:creationId xmlns:a16="http://schemas.microsoft.com/office/drawing/2014/main" id="{6C6C44A4-1838-E51E-A8D4-E4E31AE847E3}"/>
              </a:ext>
            </a:extLst>
          </p:cNvPr>
          <p:cNvSpPr/>
          <p:nvPr/>
        </p:nvSpPr>
        <p:spPr>
          <a:xfrm>
            <a:off x="6453070" y="3896003"/>
            <a:ext cx="1322767" cy="129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25" name="Rectangle 24">
            <a:extLst>
              <a:ext uri="{FF2B5EF4-FFF2-40B4-BE49-F238E27FC236}">
                <a16:creationId xmlns:a16="http://schemas.microsoft.com/office/drawing/2014/main" id="{0DD9999E-555B-924A-D746-030DB392369B}"/>
              </a:ext>
            </a:extLst>
          </p:cNvPr>
          <p:cNvSpPr/>
          <p:nvPr/>
        </p:nvSpPr>
        <p:spPr>
          <a:xfrm>
            <a:off x="10291718" y="4018728"/>
            <a:ext cx="1322767" cy="129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27" name="TextBox 26">
            <a:extLst>
              <a:ext uri="{FF2B5EF4-FFF2-40B4-BE49-F238E27FC236}">
                <a16:creationId xmlns:a16="http://schemas.microsoft.com/office/drawing/2014/main" id="{EB774E43-6E7F-71ED-C619-CBF725A233F9}"/>
              </a:ext>
            </a:extLst>
          </p:cNvPr>
          <p:cNvSpPr txBox="1"/>
          <p:nvPr/>
        </p:nvSpPr>
        <p:spPr>
          <a:xfrm>
            <a:off x="8254314" y="2466684"/>
            <a:ext cx="301686" cy="369332"/>
          </a:xfrm>
          <a:prstGeom prst="rect">
            <a:avLst/>
          </a:prstGeom>
          <a:noFill/>
        </p:spPr>
        <p:txBody>
          <a:bodyPr wrap="none" rtlCol="0">
            <a:spAutoFit/>
          </a:bodyPr>
          <a:lstStyle/>
          <a:p>
            <a:r>
              <a:rPr lang="it-IT" dirty="0">
                <a:solidFill>
                  <a:schemeClr val="bg1"/>
                </a:solidFill>
              </a:rPr>
              <a:t>2</a:t>
            </a:r>
            <a:endParaRPr lang="en-NL" dirty="0">
              <a:solidFill>
                <a:schemeClr val="bg1"/>
              </a:solidFill>
            </a:endParaRPr>
          </a:p>
        </p:txBody>
      </p:sp>
      <p:sp>
        <p:nvSpPr>
          <p:cNvPr id="29" name="TextBox 28">
            <a:extLst>
              <a:ext uri="{FF2B5EF4-FFF2-40B4-BE49-F238E27FC236}">
                <a16:creationId xmlns:a16="http://schemas.microsoft.com/office/drawing/2014/main" id="{EF5E1837-FE00-9F93-91D7-67474BC3AB33}"/>
              </a:ext>
            </a:extLst>
          </p:cNvPr>
          <p:cNvSpPr txBox="1"/>
          <p:nvPr/>
        </p:nvSpPr>
        <p:spPr>
          <a:xfrm rot="16200000">
            <a:off x="4159776" y="6007373"/>
            <a:ext cx="1079591" cy="369332"/>
          </a:xfrm>
          <a:prstGeom prst="rect">
            <a:avLst/>
          </a:prstGeom>
          <a:noFill/>
        </p:spPr>
        <p:txBody>
          <a:bodyPr wrap="none" rtlCol="0">
            <a:spAutoFit/>
          </a:bodyPr>
          <a:lstStyle/>
          <a:p>
            <a:r>
              <a:rPr lang="it-IT" dirty="0"/>
              <a:t>OUTPUTS</a:t>
            </a:r>
            <a:endParaRPr lang="en-NL" dirty="0"/>
          </a:p>
        </p:txBody>
      </p:sp>
    </p:spTree>
    <p:extLst>
      <p:ext uri="{BB962C8B-B14F-4D97-AF65-F5344CB8AC3E}">
        <p14:creationId xmlns:p14="http://schemas.microsoft.com/office/powerpoint/2010/main" val="2129584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7F5B38-6448-3BF1-533E-84CC0D4F18EF}"/>
              </a:ext>
            </a:extLst>
          </p:cNvPr>
          <p:cNvSpPr txBox="1"/>
          <p:nvPr/>
        </p:nvSpPr>
        <p:spPr>
          <a:xfrm>
            <a:off x="405637" y="268133"/>
            <a:ext cx="11215723" cy="923330"/>
          </a:xfrm>
          <a:prstGeom prst="rect">
            <a:avLst/>
          </a:prstGeom>
          <a:noFill/>
        </p:spPr>
        <p:txBody>
          <a:bodyPr wrap="square" rtlCol="0">
            <a:spAutoFit/>
          </a:bodyPr>
          <a:lstStyle/>
          <a:p>
            <a:r>
              <a:rPr lang="en-GB" b="1" dirty="0"/>
              <a:t> If still wrong: manual labelling + matched ICP → assign labels from the matched template → recover missing probes.</a:t>
            </a:r>
          </a:p>
          <a:p>
            <a:endParaRPr lang="en-GB" b="1" dirty="0"/>
          </a:p>
          <a:p>
            <a:endParaRPr lang="en-NL" dirty="0"/>
          </a:p>
        </p:txBody>
      </p:sp>
      <p:pic>
        <p:nvPicPr>
          <p:cNvPr id="7" name="Picture 6">
            <a:extLst>
              <a:ext uri="{FF2B5EF4-FFF2-40B4-BE49-F238E27FC236}">
                <a16:creationId xmlns:a16="http://schemas.microsoft.com/office/drawing/2014/main" id="{32F25F0D-14DB-A5AB-D3D1-CD593931D772}"/>
              </a:ext>
            </a:extLst>
          </p:cNvPr>
          <p:cNvPicPr>
            <a:picLocks noChangeAspect="1"/>
          </p:cNvPicPr>
          <p:nvPr/>
        </p:nvPicPr>
        <p:blipFill>
          <a:blip r:embed="rId2"/>
          <a:stretch>
            <a:fillRect/>
          </a:stretch>
        </p:blipFill>
        <p:spPr>
          <a:xfrm>
            <a:off x="530371" y="1381673"/>
            <a:ext cx="3391380" cy="3499712"/>
          </a:xfrm>
          <a:prstGeom prst="rect">
            <a:avLst/>
          </a:prstGeom>
        </p:spPr>
      </p:pic>
      <p:sp>
        <p:nvSpPr>
          <p:cNvPr id="9" name="Rectangle 8">
            <a:extLst>
              <a:ext uri="{FF2B5EF4-FFF2-40B4-BE49-F238E27FC236}">
                <a16:creationId xmlns:a16="http://schemas.microsoft.com/office/drawing/2014/main" id="{663B555D-A4CC-9AB5-0487-B0427B1EC2D8}"/>
              </a:ext>
            </a:extLst>
          </p:cNvPr>
          <p:cNvSpPr/>
          <p:nvPr/>
        </p:nvSpPr>
        <p:spPr>
          <a:xfrm>
            <a:off x="681626" y="2241311"/>
            <a:ext cx="1488323" cy="728770"/>
          </a:xfrm>
          <a:prstGeom prst="rect">
            <a:avLst/>
          </a:prstGeom>
          <a:no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11" name="TextBox 10">
            <a:extLst>
              <a:ext uri="{FF2B5EF4-FFF2-40B4-BE49-F238E27FC236}">
                <a16:creationId xmlns:a16="http://schemas.microsoft.com/office/drawing/2014/main" id="{3D1C87B0-12A7-323F-8FFB-1E8C26236BF4}"/>
              </a:ext>
            </a:extLst>
          </p:cNvPr>
          <p:cNvSpPr txBox="1"/>
          <p:nvPr/>
        </p:nvSpPr>
        <p:spPr>
          <a:xfrm>
            <a:off x="1008929" y="2059875"/>
            <a:ext cx="934871" cy="261610"/>
          </a:xfrm>
          <a:prstGeom prst="rect">
            <a:avLst/>
          </a:prstGeom>
          <a:noFill/>
        </p:spPr>
        <p:txBody>
          <a:bodyPr wrap="none" rtlCol="0">
            <a:spAutoFit/>
          </a:bodyPr>
          <a:lstStyle/>
          <a:p>
            <a:r>
              <a:rPr lang="it-IT" sz="1100" dirty="0">
                <a:solidFill>
                  <a:schemeClr val="bg1"/>
                </a:solidFill>
              </a:rPr>
              <a:t>Wrong labels</a:t>
            </a:r>
            <a:endParaRPr lang="en-NL" sz="1100" dirty="0">
              <a:solidFill>
                <a:schemeClr val="bg1"/>
              </a:solidFill>
            </a:endParaRPr>
          </a:p>
        </p:txBody>
      </p:sp>
      <p:sp>
        <p:nvSpPr>
          <p:cNvPr id="17" name="Oval 16">
            <a:extLst>
              <a:ext uri="{FF2B5EF4-FFF2-40B4-BE49-F238E27FC236}">
                <a16:creationId xmlns:a16="http://schemas.microsoft.com/office/drawing/2014/main" id="{E4C2BB18-0B5F-B339-13E0-E8F869548772}"/>
              </a:ext>
            </a:extLst>
          </p:cNvPr>
          <p:cNvSpPr/>
          <p:nvPr/>
        </p:nvSpPr>
        <p:spPr>
          <a:xfrm>
            <a:off x="750377" y="2305003"/>
            <a:ext cx="385743" cy="336884"/>
          </a:xfrm>
          <a:prstGeom prst="ellipse">
            <a:avLst/>
          </a:prstGeom>
          <a:no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19" name="TextBox 18">
            <a:extLst>
              <a:ext uri="{FF2B5EF4-FFF2-40B4-BE49-F238E27FC236}">
                <a16:creationId xmlns:a16="http://schemas.microsoft.com/office/drawing/2014/main" id="{65CAE8B8-DCD4-35B5-C8AE-77BA2C5885C5}"/>
              </a:ext>
            </a:extLst>
          </p:cNvPr>
          <p:cNvSpPr txBox="1"/>
          <p:nvPr/>
        </p:nvSpPr>
        <p:spPr>
          <a:xfrm>
            <a:off x="702983" y="2630527"/>
            <a:ext cx="1205779" cy="261610"/>
          </a:xfrm>
          <a:prstGeom prst="rect">
            <a:avLst/>
          </a:prstGeom>
          <a:noFill/>
        </p:spPr>
        <p:txBody>
          <a:bodyPr wrap="none" rtlCol="0">
            <a:spAutoFit/>
          </a:bodyPr>
          <a:lstStyle/>
          <a:p>
            <a:r>
              <a:rPr lang="it-IT" sz="1050" dirty="0">
                <a:solidFill>
                  <a:srgbClr val="FFFF00"/>
                </a:solidFill>
              </a:rPr>
              <a:t>Problematic point</a:t>
            </a:r>
            <a:endParaRPr lang="en-NL" sz="1050" dirty="0">
              <a:solidFill>
                <a:srgbClr val="FFFF00"/>
              </a:solidFill>
            </a:endParaRPr>
          </a:p>
        </p:txBody>
      </p:sp>
      <p:pic>
        <p:nvPicPr>
          <p:cNvPr id="25" name="Picture 24">
            <a:extLst>
              <a:ext uri="{FF2B5EF4-FFF2-40B4-BE49-F238E27FC236}">
                <a16:creationId xmlns:a16="http://schemas.microsoft.com/office/drawing/2014/main" id="{51A90337-E7E0-6730-A0C2-384FA2484A76}"/>
              </a:ext>
            </a:extLst>
          </p:cNvPr>
          <p:cNvPicPr>
            <a:picLocks noChangeAspect="1"/>
          </p:cNvPicPr>
          <p:nvPr/>
        </p:nvPicPr>
        <p:blipFill>
          <a:blip r:embed="rId3"/>
          <a:stretch>
            <a:fillRect/>
          </a:stretch>
        </p:blipFill>
        <p:spPr>
          <a:xfrm>
            <a:off x="4370781" y="1381673"/>
            <a:ext cx="3391380" cy="3499712"/>
          </a:xfrm>
          <a:prstGeom prst="rect">
            <a:avLst/>
          </a:prstGeom>
        </p:spPr>
      </p:pic>
      <p:pic>
        <p:nvPicPr>
          <p:cNvPr id="27" name="Picture 26">
            <a:extLst>
              <a:ext uri="{FF2B5EF4-FFF2-40B4-BE49-F238E27FC236}">
                <a16:creationId xmlns:a16="http://schemas.microsoft.com/office/drawing/2014/main" id="{0E6B5035-BA04-3D28-241B-C67AB841577C}"/>
              </a:ext>
            </a:extLst>
          </p:cNvPr>
          <p:cNvPicPr>
            <a:picLocks noChangeAspect="1"/>
          </p:cNvPicPr>
          <p:nvPr/>
        </p:nvPicPr>
        <p:blipFill>
          <a:blip r:embed="rId4"/>
          <a:stretch>
            <a:fillRect/>
          </a:stretch>
        </p:blipFill>
        <p:spPr>
          <a:xfrm>
            <a:off x="8229980" y="1381673"/>
            <a:ext cx="3391380" cy="3499712"/>
          </a:xfrm>
          <a:prstGeom prst="rect">
            <a:avLst/>
          </a:prstGeom>
        </p:spPr>
      </p:pic>
      <p:sp>
        <p:nvSpPr>
          <p:cNvPr id="29" name="Rectangle 28">
            <a:extLst>
              <a:ext uri="{FF2B5EF4-FFF2-40B4-BE49-F238E27FC236}">
                <a16:creationId xmlns:a16="http://schemas.microsoft.com/office/drawing/2014/main" id="{54FE55EB-F0AC-4E9C-BB82-95107CF3A46A}"/>
              </a:ext>
            </a:extLst>
          </p:cNvPr>
          <p:cNvSpPr/>
          <p:nvPr/>
        </p:nvSpPr>
        <p:spPr>
          <a:xfrm>
            <a:off x="9411447" y="2160990"/>
            <a:ext cx="598141" cy="728770"/>
          </a:xfrm>
          <a:prstGeom prst="rect">
            <a:avLst/>
          </a:prstGeom>
          <a:no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31" name="Rectangle 30">
            <a:extLst>
              <a:ext uri="{FF2B5EF4-FFF2-40B4-BE49-F238E27FC236}">
                <a16:creationId xmlns:a16="http://schemas.microsoft.com/office/drawing/2014/main" id="{D3638EAD-9722-9171-E501-937D0B546901}"/>
              </a:ext>
            </a:extLst>
          </p:cNvPr>
          <p:cNvSpPr/>
          <p:nvPr/>
        </p:nvSpPr>
        <p:spPr>
          <a:xfrm>
            <a:off x="8943628" y="2821741"/>
            <a:ext cx="598141" cy="408046"/>
          </a:xfrm>
          <a:prstGeom prst="rect">
            <a:avLst/>
          </a:prstGeom>
          <a:no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32" name="TextBox 31">
            <a:extLst>
              <a:ext uri="{FF2B5EF4-FFF2-40B4-BE49-F238E27FC236}">
                <a16:creationId xmlns:a16="http://schemas.microsoft.com/office/drawing/2014/main" id="{84B44752-B250-8B93-8B7D-0F591D1790A7}"/>
              </a:ext>
            </a:extLst>
          </p:cNvPr>
          <p:cNvSpPr txBox="1"/>
          <p:nvPr/>
        </p:nvSpPr>
        <p:spPr>
          <a:xfrm>
            <a:off x="9411447" y="2372234"/>
            <a:ext cx="628570" cy="276999"/>
          </a:xfrm>
          <a:prstGeom prst="rect">
            <a:avLst/>
          </a:prstGeom>
          <a:noFill/>
        </p:spPr>
        <p:txBody>
          <a:bodyPr wrap="none" rtlCol="0">
            <a:spAutoFit/>
          </a:bodyPr>
          <a:lstStyle/>
          <a:p>
            <a:r>
              <a:rPr lang="it-IT" sz="1200" dirty="0">
                <a:solidFill>
                  <a:srgbClr val="00B050"/>
                </a:solidFill>
              </a:rPr>
              <a:t>correct</a:t>
            </a:r>
            <a:endParaRPr lang="en-NL" sz="1200" dirty="0">
              <a:solidFill>
                <a:srgbClr val="00B050"/>
              </a:solidFill>
            </a:endParaRPr>
          </a:p>
        </p:txBody>
      </p:sp>
      <p:sp>
        <p:nvSpPr>
          <p:cNvPr id="34" name="TextBox 33">
            <a:extLst>
              <a:ext uri="{FF2B5EF4-FFF2-40B4-BE49-F238E27FC236}">
                <a16:creationId xmlns:a16="http://schemas.microsoft.com/office/drawing/2014/main" id="{973F4F11-FE29-E0EB-C3B1-D51D97CA873E}"/>
              </a:ext>
            </a:extLst>
          </p:cNvPr>
          <p:cNvSpPr txBox="1"/>
          <p:nvPr/>
        </p:nvSpPr>
        <p:spPr>
          <a:xfrm>
            <a:off x="8943628" y="2957778"/>
            <a:ext cx="579710" cy="276999"/>
          </a:xfrm>
          <a:prstGeom prst="rect">
            <a:avLst/>
          </a:prstGeom>
          <a:noFill/>
        </p:spPr>
        <p:txBody>
          <a:bodyPr wrap="none" rtlCol="0">
            <a:spAutoFit/>
          </a:bodyPr>
          <a:lstStyle/>
          <a:p>
            <a:r>
              <a:rPr lang="it-IT" sz="1200" dirty="0">
                <a:solidFill>
                  <a:srgbClr val="FFFF00"/>
                </a:solidFill>
              </a:rPr>
              <a:t>wrong</a:t>
            </a:r>
            <a:endParaRPr lang="en-NL" sz="1200" dirty="0">
              <a:solidFill>
                <a:srgbClr val="FFFF00"/>
              </a:solidFill>
            </a:endParaRPr>
          </a:p>
        </p:txBody>
      </p:sp>
      <p:sp>
        <p:nvSpPr>
          <p:cNvPr id="36" name="Rectangle 35">
            <a:extLst>
              <a:ext uri="{FF2B5EF4-FFF2-40B4-BE49-F238E27FC236}">
                <a16:creationId xmlns:a16="http://schemas.microsoft.com/office/drawing/2014/main" id="{810258AF-DF51-C5A8-400B-2520C88471B3}"/>
              </a:ext>
            </a:extLst>
          </p:cNvPr>
          <p:cNvSpPr/>
          <p:nvPr/>
        </p:nvSpPr>
        <p:spPr>
          <a:xfrm>
            <a:off x="6356818" y="3265025"/>
            <a:ext cx="1322767" cy="129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38" name="Rectangle 37">
            <a:extLst>
              <a:ext uri="{FF2B5EF4-FFF2-40B4-BE49-F238E27FC236}">
                <a16:creationId xmlns:a16="http://schemas.microsoft.com/office/drawing/2014/main" id="{B3E9EF64-D41F-0B31-E10A-1D2CCF672BB1}"/>
              </a:ext>
            </a:extLst>
          </p:cNvPr>
          <p:cNvSpPr/>
          <p:nvPr/>
        </p:nvSpPr>
        <p:spPr>
          <a:xfrm>
            <a:off x="10208070" y="3380875"/>
            <a:ext cx="1322767" cy="129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EA902D58-AC2D-363D-9F69-57D49D62E2CE}"/>
              </a:ext>
            </a:extLst>
          </p:cNvPr>
          <p:cNvSpPr txBox="1"/>
          <p:nvPr/>
        </p:nvSpPr>
        <p:spPr>
          <a:xfrm>
            <a:off x="4347484" y="5071595"/>
            <a:ext cx="3437974" cy="646331"/>
          </a:xfrm>
          <a:prstGeom prst="rect">
            <a:avLst/>
          </a:prstGeom>
          <a:noFill/>
        </p:spPr>
        <p:txBody>
          <a:bodyPr wrap="square" rtlCol="0">
            <a:spAutoFit/>
          </a:bodyPr>
          <a:lstStyle/>
          <a:p>
            <a:r>
              <a:rPr lang="it-IT" sz="1200" dirty="0"/>
              <a:t>User can checked iteratively which point to delete, running labelling assignment multiple times with different deleted points.</a:t>
            </a:r>
            <a:endParaRPr lang="en-NL" sz="1200" dirty="0"/>
          </a:p>
        </p:txBody>
      </p:sp>
      <p:sp>
        <p:nvSpPr>
          <p:cNvPr id="41" name="TextBox 40">
            <a:extLst>
              <a:ext uri="{FF2B5EF4-FFF2-40B4-BE49-F238E27FC236}">
                <a16:creationId xmlns:a16="http://schemas.microsoft.com/office/drawing/2014/main" id="{33B12989-1E93-C119-8D94-1ECDD789ED9A}"/>
              </a:ext>
            </a:extLst>
          </p:cNvPr>
          <p:cNvSpPr txBox="1"/>
          <p:nvPr/>
        </p:nvSpPr>
        <p:spPr>
          <a:xfrm>
            <a:off x="8489083" y="5071595"/>
            <a:ext cx="3437974" cy="461665"/>
          </a:xfrm>
          <a:prstGeom prst="rect">
            <a:avLst/>
          </a:prstGeom>
          <a:noFill/>
        </p:spPr>
        <p:txBody>
          <a:bodyPr wrap="square" rtlCol="0">
            <a:spAutoFit/>
          </a:bodyPr>
          <a:lstStyle/>
          <a:p>
            <a:r>
              <a:rPr lang="it-IT" sz="1200" dirty="0"/>
              <a:t>It’s still wrong, so better to move to manual labelling. </a:t>
            </a:r>
            <a:endParaRPr lang="en-NL" sz="1200" dirty="0"/>
          </a:p>
        </p:txBody>
      </p:sp>
      <p:sp>
        <p:nvSpPr>
          <p:cNvPr id="43" name="TextBox 42">
            <a:extLst>
              <a:ext uri="{FF2B5EF4-FFF2-40B4-BE49-F238E27FC236}">
                <a16:creationId xmlns:a16="http://schemas.microsoft.com/office/drawing/2014/main" id="{E93EC1B2-2D08-50A4-87DB-AF5C35BCBE23}"/>
              </a:ext>
            </a:extLst>
          </p:cNvPr>
          <p:cNvSpPr txBox="1"/>
          <p:nvPr/>
        </p:nvSpPr>
        <p:spPr>
          <a:xfrm>
            <a:off x="8266361" y="2059875"/>
            <a:ext cx="301686" cy="369332"/>
          </a:xfrm>
          <a:prstGeom prst="rect">
            <a:avLst/>
          </a:prstGeom>
          <a:noFill/>
        </p:spPr>
        <p:txBody>
          <a:bodyPr wrap="none" rtlCol="0">
            <a:spAutoFit/>
          </a:bodyPr>
          <a:lstStyle/>
          <a:p>
            <a:r>
              <a:rPr lang="it-IT" dirty="0">
                <a:solidFill>
                  <a:schemeClr val="bg1"/>
                </a:solidFill>
              </a:rPr>
              <a:t>2</a:t>
            </a:r>
            <a:endParaRPr lang="en-NL" dirty="0">
              <a:solidFill>
                <a:schemeClr val="bg1"/>
              </a:solidFill>
            </a:endParaRPr>
          </a:p>
        </p:txBody>
      </p:sp>
    </p:spTree>
    <p:extLst>
      <p:ext uri="{BB962C8B-B14F-4D97-AF65-F5344CB8AC3E}">
        <p14:creationId xmlns:p14="http://schemas.microsoft.com/office/powerpoint/2010/main" val="2480150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4B17DF6-3248-624A-8617-65882B40833E}"/>
              </a:ext>
            </a:extLst>
          </p:cNvPr>
          <p:cNvPicPr>
            <a:picLocks noChangeAspect="1"/>
          </p:cNvPicPr>
          <p:nvPr/>
        </p:nvPicPr>
        <p:blipFill>
          <a:blip r:embed="rId2"/>
          <a:stretch>
            <a:fillRect/>
          </a:stretch>
        </p:blipFill>
        <p:spPr>
          <a:xfrm>
            <a:off x="8353591" y="1641163"/>
            <a:ext cx="3266932" cy="3611774"/>
          </a:xfrm>
          <a:prstGeom prst="rect">
            <a:avLst/>
          </a:prstGeom>
        </p:spPr>
      </p:pic>
      <p:sp>
        <p:nvSpPr>
          <p:cNvPr id="3" name="TextBox 2">
            <a:extLst>
              <a:ext uri="{FF2B5EF4-FFF2-40B4-BE49-F238E27FC236}">
                <a16:creationId xmlns:a16="http://schemas.microsoft.com/office/drawing/2014/main" id="{A51D1D23-C495-BD2D-D8AC-BA4A736DAA2D}"/>
              </a:ext>
            </a:extLst>
          </p:cNvPr>
          <p:cNvSpPr txBox="1"/>
          <p:nvPr/>
        </p:nvSpPr>
        <p:spPr>
          <a:xfrm>
            <a:off x="405637" y="268133"/>
            <a:ext cx="11215723" cy="923330"/>
          </a:xfrm>
          <a:prstGeom prst="rect">
            <a:avLst/>
          </a:prstGeom>
          <a:noFill/>
        </p:spPr>
        <p:txBody>
          <a:bodyPr wrap="square" rtlCol="0">
            <a:spAutoFit/>
          </a:bodyPr>
          <a:lstStyle/>
          <a:p>
            <a:r>
              <a:rPr lang="en-GB" b="1" dirty="0"/>
              <a:t> If still wrong: manual labelling + matched ICP → assign labels from the matched template → recover missing probes.</a:t>
            </a:r>
          </a:p>
          <a:p>
            <a:endParaRPr lang="en-GB" b="1" dirty="0"/>
          </a:p>
          <a:p>
            <a:endParaRPr lang="en-NL" dirty="0"/>
          </a:p>
        </p:txBody>
      </p:sp>
      <p:sp>
        <p:nvSpPr>
          <p:cNvPr id="4" name="TextBox 3">
            <a:extLst>
              <a:ext uri="{FF2B5EF4-FFF2-40B4-BE49-F238E27FC236}">
                <a16:creationId xmlns:a16="http://schemas.microsoft.com/office/drawing/2014/main" id="{C83BFFA3-87E3-3DCA-2851-3C1CD5F6AC39}"/>
              </a:ext>
            </a:extLst>
          </p:cNvPr>
          <p:cNvSpPr txBox="1"/>
          <p:nvPr/>
        </p:nvSpPr>
        <p:spPr>
          <a:xfrm>
            <a:off x="611421" y="793648"/>
            <a:ext cx="11295934" cy="646331"/>
          </a:xfrm>
          <a:prstGeom prst="rect">
            <a:avLst/>
          </a:prstGeom>
          <a:noFill/>
        </p:spPr>
        <p:txBody>
          <a:bodyPr wrap="square" rtlCol="0">
            <a:spAutoFit/>
          </a:bodyPr>
          <a:lstStyle/>
          <a:p>
            <a:r>
              <a:rPr lang="it-IT" dirty="0"/>
              <a:t>Rerun step 1 if you want to clean the output folder first. Proceed with manual labelling and matched ICP. Then run step 2 and 3 with the ‘Use Custom Probe Template’ option checked.</a:t>
            </a:r>
            <a:endParaRPr lang="en-NL" dirty="0"/>
          </a:p>
        </p:txBody>
      </p:sp>
      <p:pic>
        <p:nvPicPr>
          <p:cNvPr id="6" name="Picture 5">
            <a:extLst>
              <a:ext uri="{FF2B5EF4-FFF2-40B4-BE49-F238E27FC236}">
                <a16:creationId xmlns:a16="http://schemas.microsoft.com/office/drawing/2014/main" id="{DA9EBFFB-B4B7-08DB-AA2C-EED4A35361D6}"/>
              </a:ext>
            </a:extLst>
          </p:cNvPr>
          <p:cNvPicPr>
            <a:picLocks noChangeAspect="1"/>
          </p:cNvPicPr>
          <p:nvPr/>
        </p:nvPicPr>
        <p:blipFill>
          <a:blip r:embed="rId3"/>
          <a:stretch>
            <a:fillRect/>
          </a:stretch>
        </p:blipFill>
        <p:spPr>
          <a:xfrm>
            <a:off x="779950" y="1643439"/>
            <a:ext cx="2934656" cy="3608280"/>
          </a:xfrm>
          <a:prstGeom prst="rect">
            <a:avLst/>
          </a:prstGeom>
        </p:spPr>
      </p:pic>
      <p:pic>
        <p:nvPicPr>
          <p:cNvPr id="8" name="Picture 7">
            <a:extLst>
              <a:ext uri="{FF2B5EF4-FFF2-40B4-BE49-F238E27FC236}">
                <a16:creationId xmlns:a16="http://schemas.microsoft.com/office/drawing/2014/main" id="{9B1378BA-C894-914B-7EA2-0353C861E1A6}"/>
              </a:ext>
            </a:extLst>
          </p:cNvPr>
          <p:cNvPicPr>
            <a:picLocks noChangeAspect="1"/>
          </p:cNvPicPr>
          <p:nvPr/>
        </p:nvPicPr>
        <p:blipFill>
          <a:blip r:embed="rId4"/>
          <a:stretch>
            <a:fillRect/>
          </a:stretch>
        </p:blipFill>
        <p:spPr>
          <a:xfrm>
            <a:off x="4390742" y="1641163"/>
            <a:ext cx="3266932" cy="3611774"/>
          </a:xfrm>
          <a:prstGeom prst="rect">
            <a:avLst/>
          </a:prstGeom>
        </p:spPr>
      </p:pic>
      <p:sp>
        <p:nvSpPr>
          <p:cNvPr id="16" name="Rectangle 15">
            <a:extLst>
              <a:ext uri="{FF2B5EF4-FFF2-40B4-BE49-F238E27FC236}">
                <a16:creationId xmlns:a16="http://schemas.microsoft.com/office/drawing/2014/main" id="{B3212CAD-9138-0E25-5DF1-4911DBFCF1F4}"/>
              </a:ext>
            </a:extLst>
          </p:cNvPr>
          <p:cNvSpPr/>
          <p:nvPr/>
        </p:nvSpPr>
        <p:spPr>
          <a:xfrm>
            <a:off x="6273610" y="3958849"/>
            <a:ext cx="1322767" cy="129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18" name="Rectangle 17">
            <a:extLst>
              <a:ext uri="{FF2B5EF4-FFF2-40B4-BE49-F238E27FC236}">
                <a16:creationId xmlns:a16="http://schemas.microsoft.com/office/drawing/2014/main" id="{EA5C93CD-20F8-16D5-772D-91068E165010}"/>
              </a:ext>
            </a:extLst>
          </p:cNvPr>
          <p:cNvSpPr/>
          <p:nvPr/>
        </p:nvSpPr>
        <p:spPr>
          <a:xfrm>
            <a:off x="4390740" y="2202997"/>
            <a:ext cx="3266933" cy="129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19" name="TextBox 18">
            <a:extLst>
              <a:ext uri="{FF2B5EF4-FFF2-40B4-BE49-F238E27FC236}">
                <a16:creationId xmlns:a16="http://schemas.microsoft.com/office/drawing/2014/main" id="{ED5EEFE7-9C5C-3449-25CF-4539FC0EF5FE}"/>
              </a:ext>
            </a:extLst>
          </p:cNvPr>
          <p:cNvSpPr txBox="1"/>
          <p:nvPr/>
        </p:nvSpPr>
        <p:spPr>
          <a:xfrm>
            <a:off x="4285687" y="6012924"/>
            <a:ext cx="3477042" cy="276999"/>
          </a:xfrm>
          <a:prstGeom prst="rect">
            <a:avLst/>
          </a:prstGeom>
          <a:noFill/>
        </p:spPr>
        <p:txBody>
          <a:bodyPr wrap="none" rtlCol="0">
            <a:spAutoFit/>
          </a:bodyPr>
          <a:lstStyle/>
          <a:p>
            <a:r>
              <a:rPr lang="it-IT" sz="1200" dirty="0"/>
              <a:t>Matched template is saved and loaded automatically</a:t>
            </a:r>
            <a:endParaRPr lang="en-NL" sz="1200" dirty="0"/>
          </a:p>
        </p:txBody>
      </p:sp>
      <p:sp>
        <p:nvSpPr>
          <p:cNvPr id="21" name="Rectangle 20">
            <a:extLst>
              <a:ext uri="{FF2B5EF4-FFF2-40B4-BE49-F238E27FC236}">
                <a16:creationId xmlns:a16="http://schemas.microsoft.com/office/drawing/2014/main" id="{3E873183-BFA0-0394-43BF-BDA21F320FEA}"/>
              </a:ext>
            </a:extLst>
          </p:cNvPr>
          <p:cNvSpPr/>
          <p:nvPr/>
        </p:nvSpPr>
        <p:spPr>
          <a:xfrm>
            <a:off x="10243592" y="3738843"/>
            <a:ext cx="1322767" cy="129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23" name="TextBox 22">
            <a:extLst>
              <a:ext uri="{FF2B5EF4-FFF2-40B4-BE49-F238E27FC236}">
                <a16:creationId xmlns:a16="http://schemas.microsoft.com/office/drawing/2014/main" id="{765FC2B0-181A-C45E-89CC-8601A47BF57D}"/>
              </a:ext>
            </a:extLst>
          </p:cNvPr>
          <p:cNvSpPr txBox="1"/>
          <p:nvPr/>
        </p:nvSpPr>
        <p:spPr>
          <a:xfrm>
            <a:off x="8344293" y="2281302"/>
            <a:ext cx="301686" cy="369332"/>
          </a:xfrm>
          <a:prstGeom prst="rect">
            <a:avLst/>
          </a:prstGeom>
          <a:noFill/>
        </p:spPr>
        <p:txBody>
          <a:bodyPr wrap="none" rtlCol="0">
            <a:spAutoFit/>
          </a:bodyPr>
          <a:lstStyle/>
          <a:p>
            <a:r>
              <a:rPr lang="it-IT" dirty="0">
                <a:solidFill>
                  <a:schemeClr val="bg1"/>
                </a:solidFill>
              </a:rPr>
              <a:t>2</a:t>
            </a:r>
            <a:endParaRPr lang="en-NL" dirty="0">
              <a:solidFill>
                <a:schemeClr val="bg1"/>
              </a:solidFill>
            </a:endParaRPr>
          </a:p>
        </p:txBody>
      </p:sp>
      <p:pic>
        <p:nvPicPr>
          <p:cNvPr id="25" name="Picture 24">
            <a:extLst>
              <a:ext uri="{FF2B5EF4-FFF2-40B4-BE49-F238E27FC236}">
                <a16:creationId xmlns:a16="http://schemas.microsoft.com/office/drawing/2014/main" id="{C515FB7D-A3DD-F9B4-194B-69878184F67A}"/>
              </a:ext>
            </a:extLst>
          </p:cNvPr>
          <p:cNvPicPr>
            <a:picLocks noChangeAspect="1"/>
          </p:cNvPicPr>
          <p:nvPr/>
        </p:nvPicPr>
        <p:blipFill>
          <a:blip r:embed="rId5"/>
          <a:stretch>
            <a:fillRect/>
          </a:stretch>
        </p:blipFill>
        <p:spPr>
          <a:xfrm>
            <a:off x="1303394" y="5679230"/>
            <a:ext cx="1914792" cy="533474"/>
          </a:xfrm>
          <a:prstGeom prst="rect">
            <a:avLst/>
          </a:prstGeom>
        </p:spPr>
      </p:pic>
      <p:pic>
        <p:nvPicPr>
          <p:cNvPr id="27" name="Picture 26">
            <a:extLst>
              <a:ext uri="{FF2B5EF4-FFF2-40B4-BE49-F238E27FC236}">
                <a16:creationId xmlns:a16="http://schemas.microsoft.com/office/drawing/2014/main" id="{3077E075-EEDF-8F20-E771-00554E53551E}"/>
              </a:ext>
            </a:extLst>
          </p:cNvPr>
          <p:cNvPicPr>
            <a:picLocks noChangeAspect="1"/>
          </p:cNvPicPr>
          <p:nvPr/>
        </p:nvPicPr>
        <p:blipFill>
          <a:blip r:embed="rId6"/>
          <a:stretch>
            <a:fillRect/>
          </a:stretch>
        </p:blipFill>
        <p:spPr>
          <a:xfrm>
            <a:off x="4805343" y="5608791"/>
            <a:ext cx="2333951" cy="304843"/>
          </a:xfrm>
          <a:prstGeom prst="rect">
            <a:avLst/>
          </a:prstGeom>
        </p:spPr>
      </p:pic>
      <p:grpSp>
        <p:nvGrpSpPr>
          <p:cNvPr id="35" name="Group 34">
            <a:extLst>
              <a:ext uri="{FF2B5EF4-FFF2-40B4-BE49-F238E27FC236}">
                <a16:creationId xmlns:a16="http://schemas.microsoft.com/office/drawing/2014/main" id="{A2947699-7F7F-5CD6-2FEF-F079DD4383A2}"/>
              </a:ext>
            </a:extLst>
          </p:cNvPr>
          <p:cNvGrpSpPr/>
          <p:nvPr/>
        </p:nvGrpSpPr>
        <p:grpSpPr>
          <a:xfrm>
            <a:off x="8843283" y="5410775"/>
            <a:ext cx="2474376" cy="1337164"/>
            <a:chOff x="8580235" y="5116261"/>
            <a:chExt cx="3109877" cy="1655857"/>
          </a:xfrm>
        </p:grpSpPr>
        <p:sp>
          <p:nvSpPr>
            <p:cNvPr id="34" name="Rectangle 33">
              <a:extLst>
                <a:ext uri="{FF2B5EF4-FFF2-40B4-BE49-F238E27FC236}">
                  <a16:creationId xmlns:a16="http://schemas.microsoft.com/office/drawing/2014/main" id="{AA3FE28E-A72C-4CAE-FEC2-96AF635789F3}"/>
                </a:ext>
              </a:extLst>
            </p:cNvPr>
            <p:cNvSpPr/>
            <p:nvPr/>
          </p:nvSpPr>
          <p:spPr>
            <a:xfrm>
              <a:off x="8580235" y="5116261"/>
              <a:ext cx="3109877" cy="1655857"/>
            </a:xfrm>
            <a:prstGeom prst="rect">
              <a:avLst/>
            </a:prstGeom>
            <a:solidFill>
              <a:srgbClr val="1919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dirty="0"/>
            </a:p>
          </p:txBody>
        </p:sp>
        <p:pic>
          <p:nvPicPr>
            <p:cNvPr id="29" name="Picture 28">
              <a:extLst>
                <a:ext uri="{FF2B5EF4-FFF2-40B4-BE49-F238E27FC236}">
                  <a16:creationId xmlns:a16="http://schemas.microsoft.com/office/drawing/2014/main" id="{76E3AAC3-C229-D781-DF8C-10A477122ED7}"/>
                </a:ext>
              </a:extLst>
            </p:cNvPr>
            <p:cNvPicPr>
              <a:picLocks noChangeAspect="1"/>
            </p:cNvPicPr>
            <p:nvPr/>
          </p:nvPicPr>
          <p:blipFill>
            <a:blip r:embed="rId7"/>
            <a:stretch>
              <a:fillRect/>
            </a:stretch>
          </p:blipFill>
          <p:spPr>
            <a:xfrm>
              <a:off x="8628778" y="5724222"/>
              <a:ext cx="2743583" cy="1047896"/>
            </a:xfrm>
            <a:prstGeom prst="rect">
              <a:avLst/>
            </a:prstGeom>
          </p:spPr>
        </p:pic>
        <p:pic>
          <p:nvPicPr>
            <p:cNvPr id="33" name="Picture 32">
              <a:extLst>
                <a:ext uri="{FF2B5EF4-FFF2-40B4-BE49-F238E27FC236}">
                  <a16:creationId xmlns:a16="http://schemas.microsoft.com/office/drawing/2014/main" id="{428B29C3-A03D-69D0-4FB0-BEBB2EED7583}"/>
                </a:ext>
              </a:extLst>
            </p:cNvPr>
            <p:cNvPicPr>
              <a:picLocks noChangeAspect="1"/>
            </p:cNvPicPr>
            <p:nvPr/>
          </p:nvPicPr>
          <p:blipFill>
            <a:blip r:embed="rId8"/>
            <a:srcRect l="3342"/>
            <a:stretch>
              <a:fillRect/>
            </a:stretch>
          </p:blipFill>
          <p:spPr>
            <a:xfrm>
              <a:off x="8637418" y="5180736"/>
              <a:ext cx="2992582" cy="495370"/>
            </a:xfrm>
            <a:prstGeom prst="rect">
              <a:avLst/>
            </a:prstGeom>
          </p:spPr>
        </p:pic>
      </p:grpSp>
      <p:sp>
        <p:nvSpPr>
          <p:cNvPr id="36" name="TextBox 35">
            <a:extLst>
              <a:ext uri="{FF2B5EF4-FFF2-40B4-BE49-F238E27FC236}">
                <a16:creationId xmlns:a16="http://schemas.microsoft.com/office/drawing/2014/main" id="{A58C1B6D-73B3-1C00-C8FF-9CDF80B387E6}"/>
              </a:ext>
            </a:extLst>
          </p:cNvPr>
          <p:cNvSpPr txBox="1"/>
          <p:nvPr/>
        </p:nvSpPr>
        <p:spPr>
          <a:xfrm>
            <a:off x="1485040" y="6312868"/>
            <a:ext cx="1409617" cy="276999"/>
          </a:xfrm>
          <a:prstGeom prst="rect">
            <a:avLst/>
          </a:prstGeom>
          <a:noFill/>
        </p:spPr>
        <p:txBody>
          <a:bodyPr wrap="none" rtlCol="0">
            <a:spAutoFit/>
          </a:bodyPr>
          <a:lstStyle/>
          <a:p>
            <a:r>
              <a:rPr lang="it-IT" sz="1200" dirty="0"/>
              <a:t> User defined name</a:t>
            </a:r>
            <a:endParaRPr lang="en-NL" sz="1200" dirty="0"/>
          </a:p>
        </p:txBody>
      </p:sp>
      <p:sp>
        <p:nvSpPr>
          <p:cNvPr id="38" name="TextBox 37">
            <a:extLst>
              <a:ext uri="{FF2B5EF4-FFF2-40B4-BE49-F238E27FC236}">
                <a16:creationId xmlns:a16="http://schemas.microsoft.com/office/drawing/2014/main" id="{3EE45FF5-04D3-159C-0B21-60EF9DFD4DFC}"/>
              </a:ext>
            </a:extLst>
          </p:cNvPr>
          <p:cNvSpPr txBox="1"/>
          <p:nvPr/>
        </p:nvSpPr>
        <p:spPr>
          <a:xfrm rot="16200000">
            <a:off x="-113041" y="5828257"/>
            <a:ext cx="1079591" cy="369332"/>
          </a:xfrm>
          <a:prstGeom prst="rect">
            <a:avLst/>
          </a:prstGeom>
          <a:noFill/>
        </p:spPr>
        <p:txBody>
          <a:bodyPr wrap="none" rtlCol="0">
            <a:spAutoFit/>
          </a:bodyPr>
          <a:lstStyle/>
          <a:p>
            <a:r>
              <a:rPr lang="it-IT" dirty="0"/>
              <a:t>OUTPUTS</a:t>
            </a:r>
            <a:endParaRPr lang="en-NL" dirty="0"/>
          </a:p>
        </p:txBody>
      </p:sp>
    </p:spTree>
    <p:extLst>
      <p:ext uri="{BB962C8B-B14F-4D97-AF65-F5344CB8AC3E}">
        <p14:creationId xmlns:p14="http://schemas.microsoft.com/office/powerpoint/2010/main" val="1568676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E98D24-E135-E8BC-5E29-A18CE062C3B3}"/>
              </a:ext>
            </a:extLst>
          </p:cNvPr>
          <p:cNvPicPr>
            <a:picLocks noChangeAspect="1"/>
          </p:cNvPicPr>
          <p:nvPr/>
        </p:nvPicPr>
        <p:blipFill>
          <a:blip r:embed="rId2"/>
          <a:stretch>
            <a:fillRect/>
          </a:stretch>
        </p:blipFill>
        <p:spPr>
          <a:xfrm>
            <a:off x="6634556" y="1590523"/>
            <a:ext cx="4572000" cy="4736263"/>
          </a:xfrm>
          <a:prstGeom prst="rect">
            <a:avLst/>
          </a:prstGeom>
        </p:spPr>
      </p:pic>
      <p:pic>
        <p:nvPicPr>
          <p:cNvPr id="5" name="Picture 4">
            <a:extLst>
              <a:ext uri="{FF2B5EF4-FFF2-40B4-BE49-F238E27FC236}">
                <a16:creationId xmlns:a16="http://schemas.microsoft.com/office/drawing/2014/main" id="{903C89BC-1CC7-C916-6D37-2E18E6AB1A92}"/>
              </a:ext>
            </a:extLst>
          </p:cNvPr>
          <p:cNvPicPr>
            <a:picLocks noChangeAspect="1"/>
          </p:cNvPicPr>
          <p:nvPr/>
        </p:nvPicPr>
        <p:blipFill>
          <a:blip r:embed="rId3"/>
          <a:stretch>
            <a:fillRect/>
          </a:stretch>
        </p:blipFill>
        <p:spPr>
          <a:xfrm>
            <a:off x="845648" y="1590523"/>
            <a:ext cx="4287825" cy="4740430"/>
          </a:xfrm>
          <a:prstGeom prst="rect">
            <a:avLst/>
          </a:prstGeom>
        </p:spPr>
      </p:pic>
      <p:sp>
        <p:nvSpPr>
          <p:cNvPr id="6" name="TextBox 5">
            <a:extLst>
              <a:ext uri="{FF2B5EF4-FFF2-40B4-BE49-F238E27FC236}">
                <a16:creationId xmlns:a16="http://schemas.microsoft.com/office/drawing/2014/main" id="{83344B01-D7E2-06E3-F849-E80D242B42D8}"/>
              </a:ext>
            </a:extLst>
          </p:cNvPr>
          <p:cNvSpPr txBox="1"/>
          <p:nvPr/>
        </p:nvSpPr>
        <p:spPr>
          <a:xfrm>
            <a:off x="563873" y="309383"/>
            <a:ext cx="2588529" cy="369332"/>
          </a:xfrm>
          <a:prstGeom prst="rect">
            <a:avLst/>
          </a:prstGeom>
          <a:noFill/>
        </p:spPr>
        <p:txBody>
          <a:bodyPr wrap="none" rtlCol="0">
            <a:spAutoFit/>
          </a:bodyPr>
          <a:lstStyle/>
          <a:p>
            <a:r>
              <a:rPr lang="it-IT" b="1" dirty="0"/>
              <a:t>Which output to choose?</a:t>
            </a:r>
            <a:endParaRPr lang="en-NL" b="1" dirty="0"/>
          </a:p>
        </p:txBody>
      </p:sp>
      <p:sp>
        <p:nvSpPr>
          <p:cNvPr id="7" name="Oval 6">
            <a:extLst>
              <a:ext uri="{FF2B5EF4-FFF2-40B4-BE49-F238E27FC236}">
                <a16:creationId xmlns:a16="http://schemas.microsoft.com/office/drawing/2014/main" id="{1968071D-11C7-14AA-F98C-4E377855C353}"/>
              </a:ext>
            </a:extLst>
          </p:cNvPr>
          <p:cNvSpPr/>
          <p:nvPr/>
        </p:nvSpPr>
        <p:spPr>
          <a:xfrm>
            <a:off x="2181271" y="3429000"/>
            <a:ext cx="438176" cy="378135"/>
          </a:xfrm>
          <a:prstGeom prst="ellipse">
            <a:avLst/>
          </a:prstGeom>
          <a:no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9" name="Oval 8">
            <a:extLst>
              <a:ext uri="{FF2B5EF4-FFF2-40B4-BE49-F238E27FC236}">
                <a16:creationId xmlns:a16="http://schemas.microsoft.com/office/drawing/2014/main" id="{0987A510-D10F-6FE2-B127-4B358A34C6F2}"/>
              </a:ext>
            </a:extLst>
          </p:cNvPr>
          <p:cNvSpPr/>
          <p:nvPr/>
        </p:nvSpPr>
        <p:spPr>
          <a:xfrm>
            <a:off x="1931707" y="3958654"/>
            <a:ext cx="249564" cy="242141"/>
          </a:xfrm>
          <a:prstGeom prst="ellipse">
            <a:avLst/>
          </a:prstGeom>
          <a:no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10" name="TextBox 9">
            <a:extLst>
              <a:ext uri="{FF2B5EF4-FFF2-40B4-BE49-F238E27FC236}">
                <a16:creationId xmlns:a16="http://schemas.microsoft.com/office/drawing/2014/main" id="{DA42E494-BBF5-ED9C-A1B0-5552D2A70BC5}"/>
              </a:ext>
            </a:extLst>
          </p:cNvPr>
          <p:cNvSpPr txBox="1"/>
          <p:nvPr/>
        </p:nvSpPr>
        <p:spPr>
          <a:xfrm>
            <a:off x="603795" y="759709"/>
            <a:ext cx="12237833" cy="646331"/>
          </a:xfrm>
          <a:prstGeom prst="rect">
            <a:avLst/>
          </a:prstGeom>
          <a:noFill/>
        </p:spPr>
        <p:txBody>
          <a:bodyPr wrap="square" rtlCol="0">
            <a:spAutoFit/>
          </a:bodyPr>
          <a:lstStyle/>
          <a:p>
            <a:r>
              <a:rPr lang="it-IT" sz="1200" dirty="0"/>
              <a:t>If the montage geometry if more distrorted, the automatic recovery procedure might not lead to perfect results in all locations.</a:t>
            </a:r>
          </a:p>
          <a:p>
            <a:r>
              <a:rPr lang="it-IT" sz="1200" dirty="0"/>
              <a:t>In these cases, the user might choose to select one of the intermediate results:</a:t>
            </a:r>
          </a:p>
          <a:p>
            <a:r>
              <a:rPr lang="en-GB" sz="1200" b="1" dirty="0"/>
              <a:t>icp2_transformed_MNI_probes_FCP.probej</a:t>
            </a:r>
            <a:r>
              <a:rPr lang="it-IT" sz="1200" b="1" dirty="0"/>
              <a:t> </a:t>
            </a:r>
            <a:r>
              <a:rPr lang="it-IT" sz="1200" dirty="0"/>
              <a:t>or better  </a:t>
            </a:r>
            <a:r>
              <a:rPr lang="en-GB" sz="1200" b="1" dirty="0"/>
              <a:t>icp2_transformed_template_probes_FCP.probej</a:t>
            </a:r>
            <a:r>
              <a:rPr lang="it-IT" sz="1200" b="1" dirty="0"/>
              <a:t> </a:t>
            </a:r>
            <a:r>
              <a:rPr lang="it-IT" sz="1200" dirty="0"/>
              <a:t>if matched ICP was performed.</a:t>
            </a:r>
            <a:endParaRPr lang="en-NL" sz="1200" dirty="0"/>
          </a:p>
        </p:txBody>
      </p:sp>
      <p:sp>
        <p:nvSpPr>
          <p:cNvPr id="11" name="TextBox 10">
            <a:extLst>
              <a:ext uri="{FF2B5EF4-FFF2-40B4-BE49-F238E27FC236}">
                <a16:creationId xmlns:a16="http://schemas.microsoft.com/office/drawing/2014/main" id="{02A60A8F-C3A8-07CB-58D3-0DC566B3695A}"/>
              </a:ext>
            </a:extLst>
          </p:cNvPr>
          <p:cNvSpPr txBox="1"/>
          <p:nvPr/>
        </p:nvSpPr>
        <p:spPr>
          <a:xfrm>
            <a:off x="7377076" y="4339207"/>
            <a:ext cx="3242875" cy="276999"/>
          </a:xfrm>
          <a:prstGeom prst="rect">
            <a:avLst/>
          </a:prstGeom>
          <a:noFill/>
        </p:spPr>
        <p:txBody>
          <a:bodyPr wrap="none" rtlCol="0">
            <a:spAutoFit/>
          </a:bodyPr>
          <a:lstStyle/>
          <a:p>
            <a:r>
              <a:rPr lang="en-GB" sz="1200" b="1" dirty="0">
                <a:solidFill>
                  <a:schemeClr val="bg1"/>
                </a:solidFill>
              </a:rPr>
              <a:t>icp2_transformed_template_probes_FCP.probej</a:t>
            </a:r>
            <a:endParaRPr lang="en-NL" sz="1200" dirty="0">
              <a:solidFill>
                <a:schemeClr val="bg1"/>
              </a:solidFill>
            </a:endParaRPr>
          </a:p>
        </p:txBody>
      </p:sp>
    </p:spTree>
    <p:extLst>
      <p:ext uri="{BB962C8B-B14F-4D97-AF65-F5344CB8AC3E}">
        <p14:creationId xmlns:p14="http://schemas.microsoft.com/office/powerpoint/2010/main" val="706521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452E58-EF65-3781-788E-C863769333A7}"/>
              </a:ext>
            </a:extLst>
          </p:cNvPr>
          <p:cNvPicPr>
            <a:picLocks noChangeAspect="1"/>
          </p:cNvPicPr>
          <p:nvPr/>
        </p:nvPicPr>
        <p:blipFill>
          <a:blip r:embed="rId2"/>
          <a:stretch>
            <a:fillRect/>
          </a:stretch>
        </p:blipFill>
        <p:spPr>
          <a:xfrm>
            <a:off x="4912322" y="1044381"/>
            <a:ext cx="2543530" cy="1352739"/>
          </a:xfrm>
          <a:prstGeom prst="rect">
            <a:avLst/>
          </a:prstGeom>
        </p:spPr>
      </p:pic>
      <p:sp>
        <p:nvSpPr>
          <p:cNvPr id="5" name="TextBox 4">
            <a:extLst>
              <a:ext uri="{FF2B5EF4-FFF2-40B4-BE49-F238E27FC236}">
                <a16:creationId xmlns:a16="http://schemas.microsoft.com/office/drawing/2014/main" id="{660E3F08-465D-1F42-FF36-041450FC46F4}"/>
              </a:ext>
            </a:extLst>
          </p:cNvPr>
          <p:cNvSpPr txBox="1"/>
          <p:nvPr/>
        </p:nvSpPr>
        <p:spPr>
          <a:xfrm>
            <a:off x="558036" y="3350964"/>
            <a:ext cx="9013371" cy="954107"/>
          </a:xfrm>
          <a:prstGeom prst="rect">
            <a:avLst/>
          </a:prstGeom>
          <a:noFill/>
        </p:spPr>
        <p:txBody>
          <a:bodyPr wrap="square" rtlCol="0">
            <a:spAutoFit/>
          </a:bodyPr>
          <a:lstStyle/>
          <a:p>
            <a:r>
              <a:rPr lang="en-GB" b="1" dirty="0"/>
              <a:t>Results: Assign label step</a:t>
            </a:r>
          </a:p>
          <a:p>
            <a:endParaRPr lang="en-GB" b="1" dirty="0"/>
          </a:p>
          <a:p>
            <a:endParaRPr lang="en-NL" dirty="0"/>
          </a:p>
        </p:txBody>
      </p:sp>
      <p:sp>
        <p:nvSpPr>
          <p:cNvPr id="7" name="Rectangle 6">
            <a:extLst>
              <a:ext uri="{FF2B5EF4-FFF2-40B4-BE49-F238E27FC236}">
                <a16:creationId xmlns:a16="http://schemas.microsoft.com/office/drawing/2014/main" id="{06B03125-6405-CA72-AE40-F9B2028B98FD}"/>
              </a:ext>
            </a:extLst>
          </p:cNvPr>
          <p:cNvSpPr/>
          <p:nvPr/>
        </p:nvSpPr>
        <p:spPr>
          <a:xfrm>
            <a:off x="4912322" y="1059448"/>
            <a:ext cx="1477573" cy="228425"/>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8" name="Straight Connector 7">
            <a:extLst>
              <a:ext uri="{FF2B5EF4-FFF2-40B4-BE49-F238E27FC236}">
                <a16:creationId xmlns:a16="http://schemas.microsoft.com/office/drawing/2014/main" id="{49A8E9F2-1D9D-37AD-61FC-BD869BA0B630}"/>
              </a:ext>
            </a:extLst>
          </p:cNvPr>
          <p:cNvCxnSpPr>
            <a:cxnSpLocks/>
            <a:stCxn id="7" idx="1"/>
            <a:endCxn id="9" idx="3"/>
          </p:cNvCxnSpPr>
          <p:nvPr/>
        </p:nvCxnSpPr>
        <p:spPr>
          <a:xfrm flipH="1">
            <a:off x="2867143" y="1173661"/>
            <a:ext cx="2045179" cy="76622"/>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DD4181E-0CF7-FE41-C759-E9FA7F75A290}"/>
              </a:ext>
            </a:extLst>
          </p:cNvPr>
          <p:cNvSpPr txBox="1"/>
          <p:nvPr/>
        </p:nvSpPr>
        <p:spPr>
          <a:xfrm>
            <a:off x="602837" y="742451"/>
            <a:ext cx="2264306" cy="1015663"/>
          </a:xfrm>
          <a:prstGeom prst="rect">
            <a:avLst/>
          </a:prstGeom>
          <a:noFill/>
          <a:ln w="12700">
            <a:solidFill>
              <a:srgbClr val="FF0000"/>
            </a:solidFill>
          </a:ln>
        </p:spPr>
        <p:txBody>
          <a:bodyPr wrap="square" rtlCol="0">
            <a:spAutoFit/>
          </a:bodyPr>
          <a:lstStyle/>
          <a:p>
            <a:r>
              <a:rPr lang="it-IT" sz="1200" dirty="0"/>
              <a:t>This json files stores the settings and source files used in the probe detection procedure. They are updated after every change in the GUI.</a:t>
            </a:r>
            <a:endParaRPr lang="en-NL" sz="1200" dirty="0"/>
          </a:p>
        </p:txBody>
      </p:sp>
      <p:sp>
        <p:nvSpPr>
          <p:cNvPr id="16" name="Rectangle 15">
            <a:extLst>
              <a:ext uri="{FF2B5EF4-FFF2-40B4-BE49-F238E27FC236}">
                <a16:creationId xmlns:a16="http://schemas.microsoft.com/office/drawing/2014/main" id="{64C8AE44-97F9-98AA-CB97-09C43D38F59B}"/>
              </a:ext>
            </a:extLst>
          </p:cNvPr>
          <p:cNvSpPr/>
          <p:nvPr/>
        </p:nvSpPr>
        <p:spPr>
          <a:xfrm>
            <a:off x="4912322" y="1314640"/>
            <a:ext cx="2041338" cy="521703"/>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17" name="Straight Connector 16">
            <a:extLst>
              <a:ext uri="{FF2B5EF4-FFF2-40B4-BE49-F238E27FC236}">
                <a16:creationId xmlns:a16="http://schemas.microsoft.com/office/drawing/2014/main" id="{9063E4FC-6756-F062-FC71-2CE163279D97}"/>
              </a:ext>
            </a:extLst>
          </p:cNvPr>
          <p:cNvCxnSpPr>
            <a:cxnSpLocks/>
            <a:stCxn id="16" idx="1"/>
            <a:endCxn id="18" idx="3"/>
          </p:cNvCxnSpPr>
          <p:nvPr/>
        </p:nvCxnSpPr>
        <p:spPr>
          <a:xfrm flipH="1">
            <a:off x="3999296" y="1575492"/>
            <a:ext cx="913026" cy="930683"/>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18901B39-6DAA-9013-DE56-847DD3D511D4}"/>
              </a:ext>
            </a:extLst>
          </p:cNvPr>
          <p:cNvSpPr txBox="1"/>
          <p:nvPr/>
        </p:nvSpPr>
        <p:spPr>
          <a:xfrm>
            <a:off x="1734990" y="1906010"/>
            <a:ext cx="2264306" cy="1200329"/>
          </a:xfrm>
          <a:prstGeom prst="rect">
            <a:avLst/>
          </a:prstGeom>
          <a:noFill/>
          <a:ln w="12700">
            <a:solidFill>
              <a:srgbClr val="FF0000"/>
            </a:solidFill>
          </a:ln>
        </p:spPr>
        <p:txBody>
          <a:bodyPr wrap="square" rtlCol="0">
            <a:spAutoFit/>
          </a:bodyPr>
          <a:lstStyle/>
          <a:p>
            <a:r>
              <a:rPr lang="it-IT" sz="1200" dirty="0"/>
              <a:t>Probej json file containing all detected points coordinates in BrainVoyager coordinate system (RAS) and BrainVoyeger POI file with the index of the closest vertex.</a:t>
            </a:r>
            <a:endParaRPr lang="en-NL" sz="1200" dirty="0"/>
          </a:p>
        </p:txBody>
      </p:sp>
      <p:sp>
        <p:nvSpPr>
          <p:cNvPr id="27" name="Rectangle 26">
            <a:extLst>
              <a:ext uri="{FF2B5EF4-FFF2-40B4-BE49-F238E27FC236}">
                <a16:creationId xmlns:a16="http://schemas.microsoft.com/office/drawing/2014/main" id="{E2690DF8-F987-07CC-97E5-639DEE1660C1}"/>
              </a:ext>
            </a:extLst>
          </p:cNvPr>
          <p:cNvSpPr/>
          <p:nvPr/>
        </p:nvSpPr>
        <p:spPr>
          <a:xfrm>
            <a:off x="4912322" y="1855881"/>
            <a:ext cx="2467600" cy="240632"/>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28" name="Straight Connector 27">
            <a:extLst>
              <a:ext uri="{FF2B5EF4-FFF2-40B4-BE49-F238E27FC236}">
                <a16:creationId xmlns:a16="http://schemas.microsoft.com/office/drawing/2014/main" id="{9732F9A2-2EF3-C46D-1D2F-DC9EC638B484}"/>
              </a:ext>
            </a:extLst>
          </p:cNvPr>
          <p:cNvCxnSpPr>
            <a:cxnSpLocks/>
            <a:stCxn id="29" idx="1"/>
            <a:endCxn id="27" idx="3"/>
          </p:cNvCxnSpPr>
          <p:nvPr/>
        </p:nvCxnSpPr>
        <p:spPr>
          <a:xfrm flipH="1">
            <a:off x="7379922" y="647230"/>
            <a:ext cx="1132915" cy="1328967"/>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54B03B12-5DCB-8DB2-D548-E9B5E7925F2C}"/>
              </a:ext>
            </a:extLst>
          </p:cNvPr>
          <p:cNvSpPr txBox="1"/>
          <p:nvPr/>
        </p:nvSpPr>
        <p:spPr>
          <a:xfrm>
            <a:off x="8512837" y="324064"/>
            <a:ext cx="2264306" cy="646331"/>
          </a:xfrm>
          <a:prstGeom prst="rect">
            <a:avLst/>
          </a:prstGeom>
          <a:noFill/>
          <a:ln w="12700">
            <a:solidFill>
              <a:srgbClr val="FF0000"/>
            </a:solidFill>
          </a:ln>
        </p:spPr>
        <p:txBody>
          <a:bodyPr wrap="square" rtlCol="0">
            <a:spAutoFit/>
          </a:bodyPr>
          <a:lstStyle/>
          <a:p>
            <a:r>
              <a:rPr lang="it-IT" sz="1200" dirty="0"/>
              <a:t>BrainVoyager SMP file cointaining mean curvature values for each mesh vertex</a:t>
            </a:r>
            <a:endParaRPr lang="en-NL" sz="1200" dirty="0"/>
          </a:p>
        </p:txBody>
      </p:sp>
      <p:sp>
        <p:nvSpPr>
          <p:cNvPr id="56" name="Rectangle 55">
            <a:extLst>
              <a:ext uri="{FF2B5EF4-FFF2-40B4-BE49-F238E27FC236}">
                <a16:creationId xmlns:a16="http://schemas.microsoft.com/office/drawing/2014/main" id="{0535D9D4-E37A-E62A-6E79-DA1B4DCB72B5}"/>
              </a:ext>
            </a:extLst>
          </p:cNvPr>
          <p:cNvSpPr/>
          <p:nvPr/>
        </p:nvSpPr>
        <p:spPr>
          <a:xfrm>
            <a:off x="4912627" y="2128597"/>
            <a:ext cx="2467600" cy="240632"/>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57" name="Straight Connector 56">
            <a:extLst>
              <a:ext uri="{FF2B5EF4-FFF2-40B4-BE49-F238E27FC236}">
                <a16:creationId xmlns:a16="http://schemas.microsoft.com/office/drawing/2014/main" id="{9F817B7C-40BC-A164-4449-80E91CC839BE}"/>
              </a:ext>
            </a:extLst>
          </p:cNvPr>
          <p:cNvCxnSpPr>
            <a:cxnSpLocks/>
            <a:stCxn id="58" idx="1"/>
            <a:endCxn id="56" idx="3"/>
          </p:cNvCxnSpPr>
          <p:nvPr/>
        </p:nvCxnSpPr>
        <p:spPr>
          <a:xfrm flipH="1">
            <a:off x="7380227" y="1976198"/>
            <a:ext cx="1132915" cy="272715"/>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C2DCFC31-31C1-541C-65A6-3B12A74BBCC4}"/>
              </a:ext>
            </a:extLst>
          </p:cNvPr>
          <p:cNvSpPr txBox="1"/>
          <p:nvPr/>
        </p:nvSpPr>
        <p:spPr>
          <a:xfrm>
            <a:off x="8513142" y="1653032"/>
            <a:ext cx="2264306" cy="646331"/>
          </a:xfrm>
          <a:prstGeom prst="rect">
            <a:avLst/>
          </a:prstGeom>
          <a:noFill/>
          <a:ln w="12700">
            <a:solidFill>
              <a:srgbClr val="FF0000"/>
            </a:solidFill>
          </a:ln>
        </p:spPr>
        <p:txBody>
          <a:bodyPr wrap="square" rtlCol="0">
            <a:spAutoFit/>
          </a:bodyPr>
          <a:lstStyle/>
          <a:p>
            <a:r>
              <a:rPr lang="it-IT" sz="1200" dirty="0"/>
              <a:t>BrainVoyager SMP file cointaining a mask of the mesh patches with positive curvature</a:t>
            </a:r>
            <a:endParaRPr lang="en-NL" sz="1200" dirty="0"/>
          </a:p>
        </p:txBody>
      </p:sp>
      <p:pic>
        <p:nvPicPr>
          <p:cNvPr id="61" name="Picture 60">
            <a:extLst>
              <a:ext uri="{FF2B5EF4-FFF2-40B4-BE49-F238E27FC236}">
                <a16:creationId xmlns:a16="http://schemas.microsoft.com/office/drawing/2014/main" id="{D608B7C9-C199-392C-FE34-8335C3CD2A46}"/>
              </a:ext>
            </a:extLst>
          </p:cNvPr>
          <p:cNvPicPr>
            <a:picLocks noChangeAspect="1"/>
          </p:cNvPicPr>
          <p:nvPr/>
        </p:nvPicPr>
        <p:blipFill>
          <a:blip r:embed="rId3"/>
          <a:stretch>
            <a:fillRect/>
          </a:stretch>
        </p:blipFill>
        <p:spPr>
          <a:xfrm>
            <a:off x="4683830" y="4175967"/>
            <a:ext cx="2924583" cy="1571844"/>
          </a:xfrm>
          <a:prstGeom prst="rect">
            <a:avLst/>
          </a:prstGeom>
        </p:spPr>
      </p:pic>
      <p:sp>
        <p:nvSpPr>
          <p:cNvPr id="63" name="TextBox 62">
            <a:extLst>
              <a:ext uri="{FF2B5EF4-FFF2-40B4-BE49-F238E27FC236}">
                <a16:creationId xmlns:a16="http://schemas.microsoft.com/office/drawing/2014/main" id="{ECF34E7A-93CE-5015-C5A6-5E59895A5B19}"/>
              </a:ext>
            </a:extLst>
          </p:cNvPr>
          <p:cNvSpPr txBox="1"/>
          <p:nvPr/>
        </p:nvSpPr>
        <p:spPr>
          <a:xfrm>
            <a:off x="558037" y="317403"/>
            <a:ext cx="9013371" cy="954107"/>
          </a:xfrm>
          <a:prstGeom prst="rect">
            <a:avLst/>
          </a:prstGeom>
          <a:noFill/>
        </p:spPr>
        <p:txBody>
          <a:bodyPr wrap="square" rtlCol="0">
            <a:spAutoFit/>
          </a:bodyPr>
          <a:lstStyle/>
          <a:p>
            <a:r>
              <a:rPr lang="en-GB" b="1" dirty="0"/>
              <a:t>Results: Detect probes step</a:t>
            </a:r>
          </a:p>
          <a:p>
            <a:endParaRPr lang="en-GB" b="1" dirty="0"/>
          </a:p>
          <a:p>
            <a:endParaRPr lang="en-NL" dirty="0"/>
          </a:p>
        </p:txBody>
      </p:sp>
      <p:sp>
        <p:nvSpPr>
          <p:cNvPr id="64" name="Rectangle 63">
            <a:extLst>
              <a:ext uri="{FF2B5EF4-FFF2-40B4-BE49-F238E27FC236}">
                <a16:creationId xmlns:a16="http://schemas.microsoft.com/office/drawing/2014/main" id="{471CAC64-050A-176D-488D-01B9CFD663CB}"/>
              </a:ext>
            </a:extLst>
          </p:cNvPr>
          <p:cNvSpPr/>
          <p:nvPr/>
        </p:nvSpPr>
        <p:spPr>
          <a:xfrm>
            <a:off x="4735018" y="4208050"/>
            <a:ext cx="2820814" cy="467075"/>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65" name="Straight Connector 64">
            <a:extLst>
              <a:ext uri="{FF2B5EF4-FFF2-40B4-BE49-F238E27FC236}">
                <a16:creationId xmlns:a16="http://schemas.microsoft.com/office/drawing/2014/main" id="{D3012465-A8C0-B4E6-B2A8-96276B3C2BC1}"/>
              </a:ext>
            </a:extLst>
          </p:cNvPr>
          <p:cNvCxnSpPr>
            <a:cxnSpLocks/>
            <a:stCxn id="64" idx="1"/>
            <a:endCxn id="66" idx="3"/>
          </p:cNvCxnSpPr>
          <p:nvPr/>
        </p:nvCxnSpPr>
        <p:spPr>
          <a:xfrm flipH="1">
            <a:off x="3191257" y="4441588"/>
            <a:ext cx="1543761" cy="52944"/>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3769AE9C-AA6F-6E73-F4A7-BDF603590739}"/>
              </a:ext>
            </a:extLst>
          </p:cNvPr>
          <p:cNvSpPr txBox="1"/>
          <p:nvPr/>
        </p:nvSpPr>
        <p:spPr>
          <a:xfrm>
            <a:off x="602837" y="3986700"/>
            <a:ext cx="2588420" cy="1015663"/>
          </a:xfrm>
          <a:prstGeom prst="rect">
            <a:avLst/>
          </a:prstGeom>
          <a:noFill/>
          <a:ln w="12700">
            <a:solidFill>
              <a:srgbClr val="FF0000"/>
            </a:solidFill>
          </a:ln>
        </p:spPr>
        <p:txBody>
          <a:bodyPr wrap="square" rtlCol="0">
            <a:spAutoFit/>
          </a:bodyPr>
          <a:lstStyle/>
          <a:p>
            <a:r>
              <a:rPr lang="it-IT" sz="1200" dirty="0"/>
              <a:t>Probej json file containing all labelled probe coordinates in BrainVoyager coordinate system (RAS) and BrainVoyeger POI file with the index of the closest vertex.</a:t>
            </a:r>
            <a:endParaRPr lang="en-NL" sz="1200" dirty="0"/>
          </a:p>
        </p:txBody>
      </p:sp>
      <p:sp>
        <p:nvSpPr>
          <p:cNvPr id="69" name="Rectangle 68">
            <a:extLst>
              <a:ext uri="{FF2B5EF4-FFF2-40B4-BE49-F238E27FC236}">
                <a16:creationId xmlns:a16="http://schemas.microsoft.com/office/drawing/2014/main" id="{65C11EE8-90CC-CFA9-B201-9B68DA8A2AB0}"/>
              </a:ext>
            </a:extLst>
          </p:cNvPr>
          <p:cNvSpPr/>
          <p:nvPr/>
        </p:nvSpPr>
        <p:spPr>
          <a:xfrm>
            <a:off x="4735018" y="4711793"/>
            <a:ext cx="2820814" cy="233538"/>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70" name="Straight Connector 69">
            <a:extLst>
              <a:ext uri="{FF2B5EF4-FFF2-40B4-BE49-F238E27FC236}">
                <a16:creationId xmlns:a16="http://schemas.microsoft.com/office/drawing/2014/main" id="{87BDD82E-0A77-94C2-E249-E7F2F4A62BBD}"/>
              </a:ext>
            </a:extLst>
          </p:cNvPr>
          <p:cNvCxnSpPr>
            <a:cxnSpLocks/>
            <a:stCxn id="69" idx="1"/>
            <a:endCxn id="71" idx="3"/>
          </p:cNvCxnSpPr>
          <p:nvPr/>
        </p:nvCxnSpPr>
        <p:spPr>
          <a:xfrm flipH="1">
            <a:off x="3963137" y="4828562"/>
            <a:ext cx="771881" cy="1077819"/>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DC5B0DD4-53EB-D16D-42B0-4B0AC134BACC}"/>
              </a:ext>
            </a:extLst>
          </p:cNvPr>
          <p:cNvSpPr txBox="1"/>
          <p:nvPr/>
        </p:nvSpPr>
        <p:spPr>
          <a:xfrm>
            <a:off x="1374717" y="5398549"/>
            <a:ext cx="2588420" cy="1015663"/>
          </a:xfrm>
          <a:prstGeom prst="rect">
            <a:avLst/>
          </a:prstGeom>
          <a:noFill/>
          <a:ln w="12700">
            <a:solidFill>
              <a:srgbClr val="FF0000"/>
            </a:solidFill>
          </a:ln>
        </p:spPr>
        <p:txBody>
          <a:bodyPr wrap="square" rtlCol="0">
            <a:spAutoFit/>
          </a:bodyPr>
          <a:lstStyle/>
          <a:p>
            <a:r>
              <a:rPr lang="it-IT" sz="1200" dirty="0"/>
              <a:t>Probej json file containing ICP transformed MNI probe coordinates in BrainVoyager coordinate system (RAS), registered to the detected points for label assignment.</a:t>
            </a:r>
            <a:endParaRPr lang="en-NL" sz="1200" dirty="0"/>
          </a:p>
        </p:txBody>
      </p:sp>
      <p:sp>
        <p:nvSpPr>
          <p:cNvPr id="74" name="Rectangle 73">
            <a:extLst>
              <a:ext uri="{FF2B5EF4-FFF2-40B4-BE49-F238E27FC236}">
                <a16:creationId xmlns:a16="http://schemas.microsoft.com/office/drawing/2014/main" id="{A4AD9622-6ED8-FF62-C53E-BC506E9A9B9B}"/>
              </a:ext>
            </a:extLst>
          </p:cNvPr>
          <p:cNvSpPr/>
          <p:nvPr/>
        </p:nvSpPr>
        <p:spPr>
          <a:xfrm>
            <a:off x="4735018" y="4998706"/>
            <a:ext cx="2820814" cy="501421"/>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75" name="Straight Connector 74">
            <a:extLst>
              <a:ext uri="{FF2B5EF4-FFF2-40B4-BE49-F238E27FC236}">
                <a16:creationId xmlns:a16="http://schemas.microsoft.com/office/drawing/2014/main" id="{DB3EE687-04F3-F718-6953-9A96D9A04A2C}"/>
              </a:ext>
            </a:extLst>
          </p:cNvPr>
          <p:cNvCxnSpPr>
            <a:cxnSpLocks/>
            <a:stCxn id="76" idx="1"/>
            <a:endCxn id="74" idx="3"/>
          </p:cNvCxnSpPr>
          <p:nvPr/>
        </p:nvCxnSpPr>
        <p:spPr>
          <a:xfrm flipH="1">
            <a:off x="7555832" y="4186244"/>
            <a:ext cx="1159214" cy="1063173"/>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76" name="TextBox 75">
            <a:extLst>
              <a:ext uri="{FF2B5EF4-FFF2-40B4-BE49-F238E27FC236}">
                <a16:creationId xmlns:a16="http://schemas.microsoft.com/office/drawing/2014/main" id="{D669320B-FAD3-1C4D-4E6E-F62DC58A7C7D}"/>
              </a:ext>
            </a:extLst>
          </p:cNvPr>
          <p:cNvSpPr txBox="1"/>
          <p:nvPr/>
        </p:nvSpPr>
        <p:spPr>
          <a:xfrm>
            <a:off x="8715046" y="3401414"/>
            <a:ext cx="2588420" cy="1569660"/>
          </a:xfrm>
          <a:prstGeom prst="rect">
            <a:avLst/>
          </a:prstGeom>
          <a:noFill/>
          <a:ln w="12700">
            <a:solidFill>
              <a:srgbClr val="FF0000"/>
            </a:solidFill>
          </a:ln>
        </p:spPr>
        <p:txBody>
          <a:bodyPr wrap="square" rtlCol="0">
            <a:spAutoFit/>
          </a:bodyPr>
          <a:lstStyle/>
          <a:p>
            <a:r>
              <a:rPr lang="it-IT" sz="1200" dirty="0"/>
              <a:t>Probej json file containing ICP transformed MNI probe coordinates in BrainVoyager coordinate system (RAS) as obtained after label assignment (better fit than ICP1). In the _FCP version, the transformed coordinates are further projected onto the surface using Fast Continuous Projection.</a:t>
            </a:r>
            <a:endParaRPr lang="en-NL" sz="1200" dirty="0"/>
          </a:p>
        </p:txBody>
      </p:sp>
      <p:sp>
        <p:nvSpPr>
          <p:cNvPr id="80" name="Rectangle 79">
            <a:extLst>
              <a:ext uri="{FF2B5EF4-FFF2-40B4-BE49-F238E27FC236}">
                <a16:creationId xmlns:a16="http://schemas.microsoft.com/office/drawing/2014/main" id="{F06674BD-9EBF-6BEA-F05A-8F8F48A669E3}"/>
              </a:ext>
            </a:extLst>
          </p:cNvPr>
          <p:cNvSpPr/>
          <p:nvPr/>
        </p:nvSpPr>
        <p:spPr>
          <a:xfrm>
            <a:off x="4735017" y="5550010"/>
            <a:ext cx="2820814" cy="207239"/>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81" name="Straight Connector 80">
            <a:extLst>
              <a:ext uri="{FF2B5EF4-FFF2-40B4-BE49-F238E27FC236}">
                <a16:creationId xmlns:a16="http://schemas.microsoft.com/office/drawing/2014/main" id="{98FFBF0E-2847-C848-C03E-9CC60CB523BB}"/>
              </a:ext>
            </a:extLst>
          </p:cNvPr>
          <p:cNvCxnSpPr>
            <a:cxnSpLocks/>
            <a:stCxn id="84" idx="1"/>
            <a:endCxn id="80" idx="3"/>
          </p:cNvCxnSpPr>
          <p:nvPr/>
        </p:nvCxnSpPr>
        <p:spPr>
          <a:xfrm flipH="1" flipV="1">
            <a:off x="7555831" y="5653630"/>
            <a:ext cx="1171948" cy="151958"/>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84" name="TextBox 83">
            <a:extLst>
              <a:ext uri="{FF2B5EF4-FFF2-40B4-BE49-F238E27FC236}">
                <a16:creationId xmlns:a16="http://schemas.microsoft.com/office/drawing/2014/main" id="{009D695C-A70B-93D0-9F47-9A57795A3577}"/>
              </a:ext>
            </a:extLst>
          </p:cNvPr>
          <p:cNvSpPr txBox="1"/>
          <p:nvPr/>
        </p:nvSpPr>
        <p:spPr>
          <a:xfrm>
            <a:off x="8727779" y="5390089"/>
            <a:ext cx="2588420" cy="830997"/>
          </a:xfrm>
          <a:prstGeom prst="rect">
            <a:avLst/>
          </a:prstGeom>
          <a:noFill/>
          <a:ln w="12700">
            <a:solidFill>
              <a:srgbClr val="FF0000"/>
            </a:solidFill>
          </a:ln>
        </p:spPr>
        <p:txBody>
          <a:bodyPr wrap="square" rtlCol="0">
            <a:spAutoFit/>
          </a:bodyPr>
          <a:lstStyle/>
          <a:p>
            <a:r>
              <a:rPr lang="it-IT" sz="1200" dirty="0"/>
              <a:t>Probej json file containing MNI probe coordinates (from .snirf file) transformed to surface space, in BrainVoyager coordinate system (RAS).</a:t>
            </a:r>
            <a:endParaRPr lang="en-NL" sz="1200" dirty="0"/>
          </a:p>
        </p:txBody>
      </p:sp>
    </p:spTree>
    <p:extLst>
      <p:ext uri="{BB962C8B-B14F-4D97-AF65-F5344CB8AC3E}">
        <p14:creationId xmlns:p14="http://schemas.microsoft.com/office/powerpoint/2010/main" val="1195474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4224E14C-AC02-9DC3-9CA2-31E88527D39C}"/>
              </a:ext>
            </a:extLst>
          </p:cNvPr>
          <p:cNvSpPr/>
          <p:nvPr/>
        </p:nvSpPr>
        <p:spPr>
          <a:xfrm>
            <a:off x="794622" y="4779223"/>
            <a:ext cx="2474376" cy="1030384"/>
          </a:xfrm>
          <a:prstGeom prst="rect">
            <a:avLst/>
          </a:prstGeom>
          <a:solidFill>
            <a:srgbClr val="1919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dirty="0"/>
          </a:p>
        </p:txBody>
      </p:sp>
      <p:sp>
        <p:nvSpPr>
          <p:cNvPr id="5" name="TextBox 4">
            <a:extLst>
              <a:ext uri="{FF2B5EF4-FFF2-40B4-BE49-F238E27FC236}">
                <a16:creationId xmlns:a16="http://schemas.microsoft.com/office/drawing/2014/main" id="{6F3D4A50-F182-05F3-16B2-A439126F6D45}"/>
              </a:ext>
            </a:extLst>
          </p:cNvPr>
          <p:cNvSpPr txBox="1"/>
          <p:nvPr/>
        </p:nvSpPr>
        <p:spPr>
          <a:xfrm>
            <a:off x="558037" y="214281"/>
            <a:ext cx="9013371" cy="954107"/>
          </a:xfrm>
          <a:prstGeom prst="rect">
            <a:avLst/>
          </a:prstGeom>
          <a:noFill/>
        </p:spPr>
        <p:txBody>
          <a:bodyPr wrap="square" rtlCol="0">
            <a:spAutoFit/>
          </a:bodyPr>
          <a:lstStyle/>
          <a:p>
            <a:r>
              <a:rPr lang="en-GB" b="1" dirty="0"/>
              <a:t>Results: Recover missing probes step</a:t>
            </a:r>
          </a:p>
          <a:p>
            <a:endParaRPr lang="en-GB" b="1" dirty="0"/>
          </a:p>
          <a:p>
            <a:endParaRPr lang="en-NL" dirty="0"/>
          </a:p>
        </p:txBody>
      </p:sp>
      <p:pic>
        <p:nvPicPr>
          <p:cNvPr id="7" name="Picture 6">
            <a:extLst>
              <a:ext uri="{FF2B5EF4-FFF2-40B4-BE49-F238E27FC236}">
                <a16:creationId xmlns:a16="http://schemas.microsoft.com/office/drawing/2014/main" id="{66C7AED7-FA16-422D-A147-C0F83E78123C}"/>
              </a:ext>
            </a:extLst>
          </p:cNvPr>
          <p:cNvPicPr>
            <a:picLocks noChangeAspect="1"/>
          </p:cNvPicPr>
          <p:nvPr/>
        </p:nvPicPr>
        <p:blipFill>
          <a:blip r:embed="rId2"/>
          <a:stretch>
            <a:fillRect/>
          </a:stretch>
        </p:blipFill>
        <p:spPr>
          <a:xfrm>
            <a:off x="4310040" y="911618"/>
            <a:ext cx="2962688" cy="1076475"/>
          </a:xfrm>
          <a:prstGeom prst="rect">
            <a:avLst/>
          </a:prstGeom>
        </p:spPr>
      </p:pic>
      <p:sp>
        <p:nvSpPr>
          <p:cNvPr id="8" name="Rectangle 7">
            <a:extLst>
              <a:ext uri="{FF2B5EF4-FFF2-40B4-BE49-F238E27FC236}">
                <a16:creationId xmlns:a16="http://schemas.microsoft.com/office/drawing/2014/main" id="{F86B9BB4-6D98-CB4C-2B0C-271DC84B691B}"/>
              </a:ext>
            </a:extLst>
          </p:cNvPr>
          <p:cNvSpPr/>
          <p:nvPr/>
        </p:nvSpPr>
        <p:spPr>
          <a:xfrm>
            <a:off x="4310040" y="941613"/>
            <a:ext cx="2962688" cy="513541"/>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9" name="Straight Connector 8">
            <a:extLst>
              <a:ext uri="{FF2B5EF4-FFF2-40B4-BE49-F238E27FC236}">
                <a16:creationId xmlns:a16="http://schemas.microsoft.com/office/drawing/2014/main" id="{91A5E2C3-0A0D-CF4F-D4E3-42D7B6D74D6C}"/>
              </a:ext>
            </a:extLst>
          </p:cNvPr>
          <p:cNvCxnSpPr>
            <a:cxnSpLocks/>
            <a:stCxn id="8" idx="1"/>
            <a:endCxn id="10" idx="3"/>
          </p:cNvCxnSpPr>
          <p:nvPr/>
        </p:nvCxnSpPr>
        <p:spPr>
          <a:xfrm flipH="1">
            <a:off x="3275376" y="1198384"/>
            <a:ext cx="1034664" cy="69101"/>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857B34E-9712-35FD-FF5F-904D58597E6E}"/>
              </a:ext>
            </a:extLst>
          </p:cNvPr>
          <p:cNvSpPr txBox="1"/>
          <p:nvPr/>
        </p:nvSpPr>
        <p:spPr>
          <a:xfrm>
            <a:off x="686956" y="667320"/>
            <a:ext cx="2588420" cy="1200329"/>
          </a:xfrm>
          <a:prstGeom prst="rect">
            <a:avLst/>
          </a:prstGeom>
          <a:noFill/>
          <a:ln w="12700">
            <a:solidFill>
              <a:srgbClr val="FF0000"/>
            </a:solidFill>
          </a:ln>
        </p:spPr>
        <p:txBody>
          <a:bodyPr wrap="square" rtlCol="0">
            <a:spAutoFit/>
          </a:bodyPr>
          <a:lstStyle/>
          <a:p>
            <a:r>
              <a:rPr lang="it-IT" sz="1200" dirty="0"/>
              <a:t>Probej json file containing all detected probe coordinates, including detected and recoverd probes, in BrainVoyager coordinate system (RAS) and BrainVoyeger POI file with the index of the closest vertex.</a:t>
            </a:r>
            <a:endParaRPr lang="en-NL" sz="1200" dirty="0"/>
          </a:p>
        </p:txBody>
      </p:sp>
      <p:sp>
        <p:nvSpPr>
          <p:cNvPr id="14" name="Rectangle 13">
            <a:extLst>
              <a:ext uri="{FF2B5EF4-FFF2-40B4-BE49-F238E27FC236}">
                <a16:creationId xmlns:a16="http://schemas.microsoft.com/office/drawing/2014/main" id="{CE2C686E-D946-F9D4-A96C-57275DB0A602}"/>
              </a:ext>
            </a:extLst>
          </p:cNvPr>
          <p:cNvSpPr/>
          <p:nvPr/>
        </p:nvSpPr>
        <p:spPr>
          <a:xfrm>
            <a:off x="4310040" y="1456355"/>
            <a:ext cx="2962688" cy="513541"/>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17" name="Straight Connector 16">
            <a:extLst>
              <a:ext uri="{FF2B5EF4-FFF2-40B4-BE49-F238E27FC236}">
                <a16:creationId xmlns:a16="http://schemas.microsoft.com/office/drawing/2014/main" id="{E07823AB-7002-65D4-F3BA-99C46B392C64}"/>
              </a:ext>
            </a:extLst>
          </p:cNvPr>
          <p:cNvCxnSpPr>
            <a:cxnSpLocks/>
            <a:stCxn id="18" idx="1"/>
            <a:endCxn id="14" idx="3"/>
          </p:cNvCxnSpPr>
          <p:nvPr/>
        </p:nvCxnSpPr>
        <p:spPr>
          <a:xfrm flipH="1">
            <a:off x="7272728" y="1172446"/>
            <a:ext cx="956076" cy="540680"/>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79EB2680-99BA-7FA7-E426-D1E7FF66B2C3}"/>
              </a:ext>
            </a:extLst>
          </p:cNvPr>
          <p:cNvSpPr txBox="1"/>
          <p:nvPr/>
        </p:nvSpPr>
        <p:spPr>
          <a:xfrm>
            <a:off x="8228804" y="941613"/>
            <a:ext cx="2588420" cy="461665"/>
          </a:xfrm>
          <a:prstGeom prst="rect">
            <a:avLst/>
          </a:prstGeom>
          <a:noFill/>
          <a:ln w="12700">
            <a:solidFill>
              <a:srgbClr val="FF0000"/>
            </a:solidFill>
          </a:ln>
        </p:spPr>
        <p:txBody>
          <a:bodyPr wrap="square" rtlCol="0">
            <a:spAutoFit/>
          </a:bodyPr>
          <a:lstStyle/>
          <a:p>
            <a:r>
              <a:rPr lang="it-IT" sz="1200" dirty="0"/>
              <a:t>Log files of the probe recovery step, useful for disgnosys.</a:t>
            </a:r>
            <a:endParaRPr lang="en-NL" sz="1200" dirty="0"/>
          </a:p>
        </p:txBody>
      </p:sp>
      <p:pic>
        <p:nvPicPr>
          <p:cNvPr id="25" name="Picture 24">
            <a:extLst>
              <a:ext uri="{FF2B5EF4-FFF2-40B4-BE49-F238E27FC236}">
                <a16:creationId xmlns:a16="http://schemas.microsoft.com/office/drawing/2014/main" id="{7D379616-E0C0-1CD8-E5CB-7CE25B293929}"/>
              </a:ext>
            </a:extLst>
          </p:cNvPr>
          <p:cNvPicPr>
            <a:picLocks noChangeAspect="1"/>
          </p:cNvPicPr>
          <p:nvPr/>
        </p:nvPicPr>
        <p:blipFill>
          <a:blip r:embed="rId3"/>
          <a:stretch>
            <a:fillRect/>
          </a:stretch>
        </p:blipFill>
        <p:spPr>
          <a:xfrm>
            <a:off x="4651373" y="2783299"/>
            <a:ext cx="2219635" cy="504895"/>
          </a:xfrm>
          <a:prstGeom prst="rect">
            <a:avLst/>
          </a:prstGeom>
        </p:spPr>
      </p:pic>
      <p:sp>
        <p:nvSpPr>
          <p:cNvPr id="27" name="TextBox 26">
            <a:extLst>
              <a:ext uri="{FF2B5EF4-FFF2-40B4-BE49-F238E27FC236}">
                <a16:creationId xmlns:a16="http://schemas.microsoft.com/office/drawing/2014/main" id="{053800F2-6193-D0E1-D7D6-73687E38A665}"/>
              </a:ext>
            </a:extLst>
          </p:cNvPr>
          <p:cNvSpPr txBox="1"/>
          <p:nvPr/>
        </p:nvSpPr>
        <p:spPr>
          <a:xfrm>
            <a:off x="558037" y="2178811"/>
            <a:ext cx="9013371" cy="954107"/>
          </a:xfrm>
          <a:prstGeom prst="rect">
            <a:avLst/>
          </a:prstGeom>
          <a:noFill/>
        </p:spPr>
        <p:txBody>
          <a:bodyPr wrap="square" rtlCol="0">
            <a:spAutoFit/>
          </a:bodyPr>
          <a:lstStyle/>
          <a:p>
            <a:r>
              <a:rPr lang="en-GB" b="1" dirty="0"/>
              <a:t>Results: Manual Deletion </a:t>
            </a:r>
            <a:r>
              <a:rPr lang="it-IT" b="1" dirty="0"/>
              <a:t>(optional)</a:t>
            </a:r>
            <a:endParaRPr lang="en-GB" b="1" dirty="0"/>
          </a:p>
          <a:p>
            <a:endParaRPr lang="en-GB" b="1" dirty="0"/>
          </a:p>
          <a:p>
            <a:endParaRPr lang="en-NL" dirty="0"/>
          </a:p>
        </p:txBody>
      </p:sp>
      <p:sp>
        <p:nvSpPr>
          <p:cNvPr id="29" name="Rectangle 28">
            <a:extLst>
              <a:ext uri="{FF2B5EF4-FFF2-40B4-BE49-F238E27FC236}">
                <a16:creationId xmlns:a16="http://schemas.microsoft.com/office/drawing/2014/main" id="{2ECC61B9-8921-7009-7EC8-3DCA81230A39}"/>
              </a:ext>
            </a:extLst>
          </p:cNvPr>
          <p:cNvSpPr/>
          <p:nvPr/>
        </p:nvSpPr>
        <p:spPr>
          <a:xfrm>
            <a:off x="4651373" y="2778975"/>
            <a:ext cx="2219634" cy="513541"/>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30" name="Straight Connector 29">
            <a:extLst>
              <a:ext uri="{FF2B5EF4-FFF2-40B4-BE49-F238E27FC236}">
                <a16:creationId xmlns:a16="http://schemas.microsoft.com/office/drawing/2014/main" id="{A2F55683-9DD3-A34A-9CB6-127536FEC5AD}"/>
              </a:ext>
            </a:extLst>
          </p:cNvPr>
          <p:cNvCxnSpPr>
            <a:cxnSpLocks/>
            <a:stCxn id="29" idx="1"/>
            <a:endCxn id="31" idx="3"/>
          </p:cNvCxnSpPr>
          <p:nvPr/>
        </p:nvCxnSpPr>
        <p:spPr>
          <a:xfrm flipH="1">
            <a:off x="3438927" y="3035746"/>
            <a:ext cx="1212446" cy="160115"/>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12A964C9-E2A5-F09D-A53B-B0C55041F834}"/>
              </a:ext>
            </a:extLst>
          </p:cNvPr>
          <p:cNvSpPr txBox="1"/>
          <p:nvPr/>
        </p:nvSpPr>
        <p:spPr>
          <a:xfrm>
            <a:off x="850507" y="2688029"/>
            <a:ext cx="2588420" cy="1015663"/>
          </a:xfrm>
          <a:prstGeom prst="rect">
            <a:avLst/>
          </a:prstGeom>
          <a:noFill/>
          <a:ln w="12700">
            <a:solidFill>
              <a:srgbClr val="FF0000"/>
            </a:solidFill>
          </a:ln>
        </p:spPr>
        <p:txBody>
          <a:bodyPr wrap="square" rtlCol="0">
            <a:spAutoFit/>
          </a:bodyPr>
          <a:lstStyle/>
          <a:p>
            <a:r>
              <a:rPr lang="it-IT" sz="1200" dirty="0"/>
              <a:t>Probej json file containing allmanually removed point coordinates, in BrainVoyager coordinate system (RAS) and BrainVoyeger POI file with the index of the closest vertex.</a:t>
            </a:r>
            <a:endParaRPr lang="en-NL" sz="1200" dirty="0"/>
          </a:p>
        </p:txBody>
      </p:sp>
      <p:sp>
        <p:nvSpPr>
          <p:cNvPr id="34" name="TextBox 33">
            <a:extLst>
              <a:ext uri="{FF2B5EF4-FFF2-40B4-BE49-F238E27FC236}">
                <a16:creationId xmlns:a16="http://schemas.microsoft.com/office/drawing/2014/main" id="{F6B609AA-556B-43CD-A1E9-8133D38967C1}"/>
              </a:ext>
            </a:extLst>
          </p:cNvPr>
          <p:cNvSpPr txBox="1"/>
          <p:nvPr/>
        </p:nvSpPr>
        <p:spPr>
          <a:xfrm>
            <a:off x="502768" y="3856575"/>
            <a:ext cx="9013371" cy="369332"/>
          </a:xfrm>
          <a:prstGeom prst="rect">
            <a:avLst/>
          </a:prstGeom>
          <a:noFill/>
        </p:spPr>
        <p:txBody>
          <a:bodyPr wrap="square" rtlCol="0">
            <a:spAutoFit/>
          </a:bodyPr>
          <a:lstStyle/>
          <a:p>
            <a:r>
              <a:rPr lang="en-GB" b="1" dirty="0"/>
              <a:t>Results: Manual Labelling – Matched ICP </a:t>
            </a:r>
            <a:r>
              <a:rPr lang="it-IT" b="1" dirty="0"/>
              <a:t>(optional)</a:t>
            </a:r>
            <a:endParaRPr lang="en-NL" dirty="0"/>
          </a:p>
        </p:txBody>
      </p:sp>
      <p:pic>
        <p:nvPicPr>
          <p:cNvPr id="38" name="Picture 37">
            <a:extLst>
              <a:ext uri="{FF2B5EF4-FFF2-40B4-BE49-F238E27FC236}">
                <a16:creationId xmlns:a16="http://schemas.microsoft.com/office/drawing/2014/main" id="{EB010F04-9A65-D160-5106-ED44A834AD34}"/>
              </a:ext>
            </a:extLst>
          </p:cNvPr>
          <p:cNvPicPr>
            <a:picLocks noChangeAspect="1"/>
          </p:cNvPicPr>
          <p:nvPr/>
        </p:nvPicPr>
        <p:blipFill>
          <a:blip r:embed="rId4"/>
          <a:stretch>
            <a:fillRect/>
          </a:stretch>
        </p:blipFill>
        <p:spPr>
          <a:xfrm>
            <a:off x="881351" y="4882156"/>
            <a:ext cx="1914792" cy="533474"/>
          </a:xfrm>
          <a:prstGeom prst="rect">
            <a:avLst/>
          </a:prstGeom>
        </p:spPr>
      </p:pic>
      <p:pic>
        <p:nvPicPr>
          <p:cNvPr id="40" name="Picture 39">
            <a:extLst>
              <a:ext uri="{FF2B5EF4-FFF2-40B4-BE49-F238E27FC236}">
                <a16:creationId xmlns:a16="http://schemas.microsoft.com/office/drawing/2014/main" id="{19F3B915-5DEC-F8B0-05C8-1FBA6EDD18A0}"/>
              </a:ext>
            </a:extLst>
          </p:cNvPr>
          <p:cNvPicPr>
            <a:picLocks noChangeAspect="1"/>
          </p:cNvPicPr>
          <p:nvPr/>
        </p:nvPicPr>
        <p:blipFill>
          <a:blip r:embed="rId5"/>
          <a:stretch>
            <a:fillRect/>
          </a:stretch>
        </p:blipFill>
        <p:spPr>
          <a:xfrm>
            <a:off x="864835" y="5394359"/>
            <a:ext cx="2333951" cy="304843"/>
          </a:xfrm>
          <a:prstGeom prst="rect">
            <a:avLst/>
          </a:prstGeom>
        </p:spPr>
      </p:pic>
      <p:pic>
        <p:nvPicPr>
          <p:cNvPr id="42" name="Picture 41">
            <a:extLst>
              <a:ext uri="{FF2B5EF4-FFF2-40B4-BE49-F238E27FC236}">
                <a16:creationId xmlns:a16="http://schemas.microsoft.com/office/drawing/2014/main" id="{238D6A9C-0234-9471-3786-546B1F662CC9}"/>
              </a:ext>
            </a:extLst>
          </p:cNvPr>
          <p:cNvPicPr>
            <a:picLocks noChangeAspect="1"/>
          </p:cNvPicPr>
          <p:nvPr/>
        </p:nvPicPr>
        <p:blipFill>
          <a:blip r:embed="rId6"/>
          <a:stretch>
            <a:fillRect/>
          </a:stretch>
        </p:blipFill>
        <p:spPr>
          <a:xfrm>
            <a:off x="9214444" y="4886622"/>
            <a:ext cx="2182934" cy="846214"/>
          </a:xfrm>
          <a:prstGeom prst="rect">
            <a:avLst/>
          </a:prstGeom>
        </p:spPr>
      </p:pic>
      <p:sp>
        <p:nvSpPr>
          <p:cNvPr id="45" name="Rectangle 44">
            <a:extLst>
              <a:ext uri="{FF2B5EF4-FFF2-40B4-BE49-F238E27FC236}">
                <a16:creationId xmlns:a16="http://schemas.microsoft.com/office/drawing/2014/main" id="{ADBF97F6-B04E-9A31-6520-DE80C05ACEA3}"/>
              </a:ext>
            </a:extLst>
          </p:cNvPr>
          <p:cNvSpPr/>
          <p:nvPr/>
        </p:nvSpPr>
        <p:spPr>
          <a:xfrm>
            <a:off x="864835" y="4874552"/>
            <a:ext cx="2219634" cy="513541"/>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46" name="Straight Connector 45">
            <a:extLst>
              <a:ext uri="{FF2B5EF4-FFF2-40B4-BE49-F238E27FC236}">
                <a16:creationId xmlns:a16="http://schemas.microsoft.com/office/drawing/2014/main" id="{7E73C670-BE83-B9CA-5092-9757480CCD15}"/>
              </a:ext>
            </a:extLst>
          </p:cNvPr>
          <p:cNvCxnSpPr>
            <a:cxnSpLocks/>
            <a:stCxn id="45" idx="3"/>
            <a:endCxn id="47" idx="1"/>
          </p:cNvCxnSpPr>
          <p:nvPr/>
        </p:nvCxnSpPr>
        <p:spPr>
          <a:xfrm flipV="1">
            <a:off x="3084469" y="4886622"/>
            <a:ext cx="833864" cy="244701"/>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0E19FEE1-C392-924D-58F7-1CB550514EA3}"/>
              </a:ext>
            </a:extLst>
          </p:cNvPr>
          <p:cNvSpPr txBox="1"/>
          <p:nvPr/>
        </p:nvSpPr>
        <p:spPr>
          <a:xfrm>
            <a:off x="3918333" y="4378790"/>
            <a:ext cx="2588420" cy="1015663"/>
          </a:xfrm>
          <a:prstGeom prst="rect">
            <a:avLst/>
          </a:prstGeom>
          <a:noFill/>
          <a:ln w="12700">
            <a:solidFill>
              <a:srgbClr val="FF0000"/>
            </a:solidFill>
          </a:ln>
        </p:spPr>
        <p:txBody>
          <a:bodyPr wrap="square" rtlCol="0">
            <a:spAutoFit/>
          </a:bodyPr>
          <a:lstStyle/>
          <a:p>
            <a:r>
              <a:rPr lang="it-IT" sz="1200" dirty="0"/>
              <a:t>Probej json file containing all manually labelled point coordinates, in BrainVoyager coordinate system (RAS) and BrainVoyeger POI file with the index of the closest vertex.</a:t>
            </a:r>
            <a:endParaRPr lang="en-NL" sz="1200" dirty="0"/>
          </a:p>
        </p:txBody>
      </p:sp>
      <p:sp>
        <p:nvSpPr>
          <p:cNvPr id="54" name="Rectangle 53">
            <a:extLst>
              <a:ext uri="{FF2B5EF4-FFF2-40B4-BE49-F238E27FC236}">
                <a16:creationId xmlns:a16="http://schemas.microsoft.com/office/drawing/2014/main" id="{4FD6397F-450A-0550-5615-E787E75C99E4}"/>
              </a:ext>
            </a:extLst>
          </p:cNvPr>
          <p:cNvSpPr/>
          <p:nvPr/>
        </p:nvSpPr>
        <p:spPr>
          <a:xfrm>
            <a:off x="863432" y="5421897"/>
            <a:ext cx="2333950" cy="277306"/>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345E0E82-AE9F-98C2-7E45-E0A797A64475}"/>
              </a:ext>
            </a:extLst>
          </p:cNvPr>
          <p:cNvCxnSpPr>
            <a:cxnSpLocks/>
            <a:stCxn id="56" idx="1"/>
            <a:endCxn id="54" idx="3"/>
          </p:cNvCxnSpPr>
          <p:nvPr/>
        </p:nvCxnSpPr>
        <p:spPr>
          <a:xfrm flipH="1" flipV="1">
            <a:off x="3197382" y="5560550"/>
            <a:ext cx="720951" cy="508164"/>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2D48FB75-7596-DF71-371B-F33BC261A7F5}"/>
              </a:ext>
            </a:extLst>
          </p:cNvPr>
          <p:cNvSpPr txBox="1"/>
          <p:nvPr/>
        </p:nvSpPr>
        <p:spPr>
          <a:xfrm>
            <a:off x="3918333" y="5560882"/>
            <a:ext cx="2588420" cy="1015663"/>
          </a:xfrm>
          <a:prstGeom prst="rect">
            <a:avLst/>
          </a:prstGeom>
          <a:noFill/>
          <a:ln w="12700">
            <a:solidFill>
              <a:srgbClr val="FF0000"/>
            </a:solidFill>
          </a:ln>
        </p:spPr>
        <p:txBody>
          <a:bodyPr wrap="square" rtlCol="0">
            <a:spAutoFit/>
          </a:bodyPr>
          <a:lstStyle/>
          <a:p>
            <a:r>
              <a:rPr lang="it-IT" sz="1200" dirty="0"/>
              <a:t>Probej json file containing MNI probe coordinates (from .snirf file) registered to the detected points using matched ICP, in BrainVoyager coordinate system (RAS).</a:t>
            </a:r>
            <a:endParaRPr lang="en-NL" sz="1200" dirty="0"/>
          </a:p>
        </p:txBody>
      </p:sp>
      <p:sp>
        <p:nvSpPr>
          <p:cNvPr id="60" name="Rectangle 59">
            <a:extLst>
              <a:ext uri="{FF2B5EF4-FFF2-40B4-BE49-F238E27FC236}">
                <a16:creationId xmlns:a16="http://schemas.microsoft.com/office/drawing/2014/main" id="{4185A732-DE67-2040-3870-AE34D34C798A}"/>
              </a:ext>
            </a:extLst>
          </p:cNvPr>
          <p:cNvSpPr/>
          <p:nvPr/>
        </p:nvSpPr>
        <p:spPr>
          <a:xfrm>
            <a:off x="9248129" y="4892203"/>
            <a:ext cx="2149249" cy="846214"/>
          </a:xfrm>
          <a:prstGeom prst="rect">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62" name="TextBox 61">
            <a:extLst>
              <a:ext uri="{FF2B5EF4-FFF2-40B4-BE49-F238E27FC236}">
                <a16:creationId xmlns:a16="http://schemas.microsoft.com/office/drawing/2014/main" id="{7E784819-9181-C422-BB9C-BC8D293C9F09}"/>
              </a:ext>
            </a:extLst>
          </p:cNvPr>
          <p:cNvSpPr txBox="1"/>
          <p:nvPr/>
        </p:nvSpPr>
        <p:spPr>
          <a:xfrm>
            <a:off x="6891014" y="5008972"/>
            <a:ext cx="2020202" cy="830997"/>
          </a:xfrm>
          <a:prstGeom prst="rect">
            <a:avLst/>
          </a:prstGeom>
          <a:noFill/>
          <a:ln w="12700">
            <a:solidFill>
              <a:srgbClr val="FF0000"/>
            </a:solidFill>
          </a:ln>
        </p:spPr>
        <p:txBody>
          <a:bodyPr wrap="square" rtlCol="0">
            <a:spAutoFit/>
          </a:bodyPr>
          <a:lstStyle/>
          <a:p>
            <a:r>
              <a:rPr lang="it-IT" sz="1200" dirty="0"/>
              <a:t>Same results after label assignment but starting from the matched template instead of MNI coordinates.</a:t>
            </a:r>
            <a:endParaRPr lang="en-NL" sz="1200" dirty="0"/>
          </a:p>
        </p:txBody>
      </p:sp>
      <p:cxnSp>
        <p:nvCxnSpPr>
          <p:cNvPr id="63" name="Straight Connector 62">
            <a:extLst>
              <a:ext uri="{FF2B5EF4-FFF2-40B4-BE49-F238E27FC236}">
                <a16:creationId xmlns:a16="http://schemas.microsoft.com/office/drawing/2014/main" id="{D11176FA-4236-E57E-04AE-B8E11A73BFF8}"/>
              </a:ext>
            </a:extLst>
          </p:cNvPr>
          <p:cNvCxnSpPr>
            <a:cxnSpLocks/>
            <a:stCxn id="60" idx="1"/>
            <a:endCxn id="62" idx="3"/>
          </p:cNvCxnSpPr>
          <p:nvPr/>
        </p:nvCxnSpPr>
        <p:spPr>
          <a:xfrm flipH="1">
            <a:off x="8911216" y="5315310"/>
            <a:ext cx="336913" cy="109161"/>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7741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553</TotalTime>
  <Words>1190</Words>
  <Application>Microsoft Office PowerPoint</Application>
  <PresentationFormat>Widescreen</PresentationFormat>
  <Paragraphs>112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Assunta Ciarlo</dc:creator>
  <cp:keywords/>
  <dc:description>generated using python-pptx</dc:description>
  <cp:lastModifiedBy>Ciarlo, Assunta (PSYCHOLOGY)</cp:lastModifiedBy>
  <cp:revision>36</cp:revision>
  <dcterms:created xsi:type="dcterms:W3CDTF">2013-01-27T09:14:16Z</dcterms:created>
  <dcterms:modified xsi:type="dcterms:W3CDTF">2026-09-02T17:13:26Z</dcterms:modified>
  <cp:category/>
</cp:coreProperties>
</file>